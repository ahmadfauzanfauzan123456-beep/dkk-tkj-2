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veat Brush" charset="1" panose="00000000000000000000"/>
      <p:regular r:id="rId16"/>
    </p:embeddedFont>
    <p:embeddedFont>
      <p:font typeface="Open Sans Bold" charset="1" panose="020B0806030504020204"/>
      <p:regular r:id="rId17"/>
    </p:embeddedFont>
    <p:embeddedFont>
      <p:font typeface="Open Sans" charset="1" panose="020B0606030504020204"/>
      <p:regular r:id="rId18"/>
    </p:embeddedFont>
    <p:embeddedFont>
      <p:font typeface="Arimo" charset="1" panose="020B06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35.jpeg" Type="http://schemas.openxmlformats.org/officeDocument/2006/relationships/image"/><Relationship Id="rId15" Target="../media/image36.jpe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D304E"/>
        </a:solidFill>
      </p:bgPr>
    </p:bg>
    <p:spTree>
      <p:nvGrpSpPr>
        <p:cNvPr id="1" name=""/>
        <p:cNvGrpSpPr/>
        <p:nvPr/>
      </p:nvGrpSpPr>
      <p:grpSpPr>
        <a:xfrm>
          <a:off x="0" y="0"/>
          <a:ext cx="0" cy="0"/>
          <a:chOff x="0" y="0"/>
          <a:chExt cx="0" cy="0"/>
        </a:xfrm>
      </p:grpSpPr>
      <p:grpSp>
        <p:nvGrpSpPr>
          <p:cNvPr name="Group 2" id="2"/>
          <p:cNvGrpSpPr/>
          <p:nvPr/>
        </p:nvGrpSpPr>
        <p:grpSpPr>
          <a:xfrm rot="0">
            <a:off x="1148825" y="896433"/>
            <a:ext cx="15990349" cy="8494135"/>
            <a:chOff x="0" y="0"/>
            <a:chExt cx="4211450" cy="2237138"/>
          </a:xfrm>
        </p:grpSpPr>
        <p:sp>
          <p:nvSpPr>
            <p:cNvPr name="Freeform 3" id="3"/>
            <p:cNvSpPr/>
            <p:nvPr/>
          </p:nvSpPr>
          <p:spPr>
            <a:xfrm flipH="false" flipV="false" rot="0">
              <a:off x="0" y="0"/>
              <a:ext cx="4211450" cy="2237138"/>
            </a:xfrm>
            <a:custGeom>
              <a:avLst/>
              <a:gdLst/>
              <a:ahLst/>
              <a:cxnLst/>
              <a:rect r="r" b="b" t="t" l="l"/>
              <a:pathLst>
                <a:path h="2237138" w="4211450">
                  <a:moveTo>
                    <a:pt x="17914" y="0"/>
                  </a:moveTo>
                  <a:lnTo>
                    <a:pt x="4193536" y="0"/>
                  </a:lnTo>
                  <a:cubicBezTo>
                    <a:pt x="4203429" y="0"/>
                    <a:pt x="4211450" y="8020"/>
                    <a:pt x="4211450" y="17914"/>
                  </a:cubicBezTo>
                  <a:lnTo>
                    <a:pt x="4211450" y="2219224"/>
                  </a:lnTo>
                  <a:cubicBezTo>
                    <a:pt x="4211450" y="2223975"/>
                    <a:pt x="4209562" y="2228532"/>
                    <a:pt x="4206203" y="2231891"/>
                  </a:cubicBezTo>
                  <a:cubicBezTo>
                    <a:pt x="4202843" y="2235251"/>
                    <a:pt x="4198287" y="2237138"/>
                    <a:pt x="4193536" y="2237138"/>
                  </a:cubicBezTo>
                  <a:lnTo>
                    <a:pt x="17914" y="2237138"/>
                  </a:lnTo>
                  <a:cubicBezTo>
                    <a:pt x="8020" y="2237138"/>
                    <a:pt x="0" y="2229118"/>
                    <a:pt x="0" y="2219224"/>
                  </a:cubicBezTo>
                  <a:lnTo>
                    <a:pt x="0" y="17914"/>
                  </a:lnTo>
                  <a:cubicBezTo>
                    <a:pt x="0" y="8020"/>
                    <a:pt x="8020" y="0"/>
                    <a:pt x="17914" y="0"/>
                  </a:cubicBezTo>
                  <a:close/>
                </a:path>
              </a:pathLst>
            </a:custGeom>
            <a:solidFill>
              <a:srgbClr val="F8F4E4"/>
            </a:solidFill>
          </p:spPr>
        </p:sp>
        <p:sp>
          <p:nvSpPr>
            <p:cNvPr name="TextBox 4" id="4"/>
            <p:cNvSpPr txBox="true"/>
            <p:nvPr/>
          </p:nvSpPr>
          <p:spPr>
            <a:xfrm>
              <a:off x="0" y="-47625"/>
              <a:ext cx="4211450" cy="228476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269088">
            <a:off x="15075782" y="6550031"/>
            <a:ext cx="2414843" cy="3154783"/>
          </a:xfrm>
          <a:custGeom>
            <a:avLst/>
            <a:gdLst/>
            <a:ahLst/>
            <a:cxnLst/>
            <a:rect r="r" b="b" t="t" l="l"/>
            <a:pathLst>
              <a:path h="3154783" w="2414843">
                <a:moveTo>
                  <a:pt x="0" y="0"/>
                </a:moveTo>
                <a:lnTo>
                  <a:pt x="2414843" y="0"/>
                </a:lnTo>
                <a:lnTo>
                  <a:pt x="2414843" y="3154783"/>
                </a:lnTo>
                <a:lnTo>
                  <a:pt x="0" y="3154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41093" y="6460447"/>
            <a:ext cx="2687552" cy="3192556"/>
          </a:xfrm>
          <a:custGeom>
            <a:avLst/>
            <a:gdLst/>
            <a:ahLst/>
            <a:cxnLst/>
            <a:rect r="r" b="b" t="t" l="l"/>
            <a:pathLst>
              <a:path h="3192556" w="2687552">
                <a:moveTo>
                  <a:pt x="0" y="0"/>
                </a:moveTo>
                <a:lnTo>
                  <a:pt x="2687552" y="0"/>
                </a:lnTo>
                <a:lnTo>
                  <a:pt x="2687552" y="3192556"/>
                </a:lnTo>
                <a:lnTo>
                  <a:pt x="0" y="3192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76277">
            <a:off x="451247" y="4048666"/>
            <a:ext cx="2042362" cy="2189667"/>
          </a:xfrm>
          <a:custGeom>
            <a:avLst/>
            <a:gdLst/>
            <a:ahLst/>
            <a:cxnLst/>
            <a:rect r="r" b="b" t="t" l="l"/>
            <a:pathLst>
              <a:path h="2189667" w="2042362">
                <a:moveTo>
                  <a:pt x="0" y="0"/>
                </a:moveTo>
                <a:lnTo>
                  <a:pt x="2042362" y="0"/>
                </a:lnTo>
                <a:lnTo>
                  <a:pt x="2042362" y="2189668"/>
                </a:lnTo>
                <a:lnTo>
                  <a:pt x="0" y="21896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130542">
            <a:off x="15913341" y="4050715"/>
            <a:ext cx="1664244" cy="2732341"/>
          </a:xfrm>
          <a:custGeom>
            <a:avLst/>
            <a:gdLst/>
            <a:ahLst/>
            <a:cxnLst/>
            <a:rect r="r" b="b" t="t" l="l"/>
            <a:pathLst>
              <a:path h="2732341" w="1664244">
                <a:moveTo>
                  <a:pt x="0" y="0"/>
                </a:moveTo>
                <a:lnTo>
                  <a:pt x="1664244" y="0"/>
                </a:lnTo>
                <a:lnTo>
                  <a:pt x="1664244" y="2732341"/>
                </a:lnTo>
                <a:lnTo>
                  <a:pt x="0" y="27323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4071891" y="1624241"/>
            <a:ext cx="9053650" cy="4533187"/>
          </a:xfrm>
          <a:prstGeom prst="rect">
            <a:avLst/>
          </a:prstGeom>
        </p:spPr>
        <p:txBody>
          <a:bodyPr anchor="t" rtlCol="false" tIns="0" lIns="0" bIns="0" rIns="0">
            <a:spAutoFit/>
          </a:bodyPr>
          <a:lstStyle/>
          <a:p>
            <a:pPr algn="ctr">
              <a:lnSpc>
                <a:spcPts val="11566"/>
              </a:lnSpc>
            </a:pPr>
            <a:r>
              <a:rPr lang="en-US" sz="12995">
                <a:solidFill>
                  <a:srgbClr val="000000"/>
                </a:solidFill>
                <a:latin typeface="Caveat Brush"/>
                <a:ea typeface="Caveat Brush"/>
                <a:cs typeface="Caveat Brush"/>
                <a:sym typeface="Caveat Brush"/>
              </a:rPr>
              <a:t>TUGAS MICROWAVE LINK</a:t>
            </a:r>
          </a:p>
        </p:txBody>
      </p:sp>
      <p:sp>
        <p:nvSpPr>
          <p:cNvPr name="Freeform 10" id="10"/>
          <p:cNvSpPr/>
          <p:nvPr/>
        </p:nvSpPr>
        <p:spPr>
          <a:xfrm flipH="false" flipV="false" rot="0">
            <a:off x="15156039" y="468807"/>
            <a:ext cx="2687552" cy="3192556"/>
          </a:xfrm>
          <a:custGeom>
            <a:avLst/>
            <a:gdLst/>
            <a:ahLst/>
            <a:cxnLst/>
            <a:rect r="r" b="b" t="t" l="l"/>
            <a:pathLst>
              <a:path h="3192556" w="2687552">
                <a:moveTo>
                  <a:pt x="0" y="0"/>
                </a:moveTo>
                <a:lnTo>
                  <a:pt x="2687552" y="0"/>
                </a:lnTo>
                <a:lnTo>
                  <a:pt x="2687552" y="3192556"/>
                </a:lnTo>
                <a:lnTo>
                  <a:pt x="0" y="3192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269088">
            <a:off x="750102" y="553023"/>
            <a:ext cx="2270123" cy="2965718"/>
          </a:xfrm>
          <a:custGeom>
            <a:avLst/>
            <a:gdLst/>
            <a:ahLst/>
            <a:cxnLst/>
            <a:rect r="r" b="b" t="t" l="l"/>
            <a:pathLst>
              <a:path h="2965718" w="2270123">
                <a:moveTo>
                  <a:pt x="0" y="0"/>
                </a:moveTo>
                <a:lnTo>
                  <a:pt x="2270122" y="0"/>
                </a:lnTo>
                <a:lnTo>
                  <a:pt x="2270122" y="2965718"/>
                </a:lnTo>
                <a:lnTo>
                  <a:pt x="0" y="29657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208183" y="5736058"/>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5871900" y="6200188"/>
            <a:ext cx="5935795" cy="1103220"/>
          </a:xfrm>
          <a:prstGeom prst="rect">
            <a:avLst/>
          </a:prstGeom>
        </p:spPr>
        <p:txBody>
          <a:bodyPr anchor="t" rtlCol="false" tIns="0" lIns="0" bIns="0" rIns="0">
            <a:spAutoFit/>
          </a:bodyPr>
          <a:lstStyle/>
          <a:p>
            <a:pPr algn="ctr">
              <a:lnSpc>
                <a:spcPts val="9017"/>
              </a:lnSpc>
            </a:pPr>
            <a:r>
              <a:rPr lang="en-US" sz="6441">
                <a:solidFill>
                  <a:srgbClr val="000000"/>
                </a:solidFill>
                <a:latin typeface="Caveat Brush"/>
                <a:ea typeface="Caveat Brush"/>
                <a:cs typeface="Caveat Brush"/>
                <a:sym typeface="Caveat Brush"/>
              </a:rPr>
              <a:t>Kelompok Fauget</a:t>
            </a:r>
          </a:p>
        </p:txBody>
      </p:sp>
      <p:sp>
        <p:nvSpPr>
          <p:cNvPr name="Freeform 14" id="14"/>
          <p:cNvSpPr/>
          <p:nvPr/>
        </p:nvSpPr>
        <p:spPr>
          <a:xfrm flipH="false" flipV="false" rot="0">
            <a:off x="13211009" y="7177407"/>
            <a:ext cx="1021972" cy="1175910"/>
          </a:xfrm>
          <a:custGeom>
            <a:avLst/>
            <a:gdLst/>
            <a:ahLst/>
            <a:cxnLst/>
            <a:rect r="r" b="b" t="t" l="l"/>
            <a:pathLst>
              <a:path h="1175910" w="1021972">
                <a:moveTo>
                  <a:pt x="0" y="0"/>
                </a:moveTo>
                <a:lnTo>
                  <a:pt x="1021973" y="0"/>
                </a:lnTo>
                <a:lnTo>
                  <a:pt x="1021973" y="1175909"/>
                </a:lnTo>
                <a:lnTo>
                  <a:pt x="0" y="11759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4175022" y="1582534"/>
            <a:ext cx="1021972" cy="1175910"/>
          </a:xfrm>
          <a:custGeom>
            <a:avLst/>
            <a:gdLst/>
            <a:ahLst/>
            <a:cxnLst/>
            <a:rect r="r" b="b" t="t" l="l"/>
            <a:pathLst>
              <a:path h="1175910" w="1021972">
                <a:moveTo>
                  <a:pt x="0" y="0"/>
                </a:moveTo>
                <a:lnTo>
                  <a:pt x="1021972" y="0"/>
                </a:lnTo>
                <a:lnTo>
                  <a:pt x="1021972" y="1175909"/>
                </a:lnTo>
                <a:lnTo>
                  <a:pt x="0" y="11759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17367266" y="8761240"/>
            <a:ext cx="781199" cy="898869"/>
          </a:xfrm>
          <a:custGeom>
            <a:avLst/>
            <a:gdLst/>
            <a:ahLst/>
            <a:cxnLst/>
            <a:rect r="r" b="b" t="t" l="l"/>
            <a:pathLst>
              <a:path h="898869" w="781199">
                <a:moveTo>
                  <a:pt x="0" y="0"/>
                </a:moveTo>
                <a:lnTo>
                  <a:pt x="781199" y="0"/>
                </a:lnTo>
                <a:lnTo>
                  <a:pt x="781199" y="898870"/>
                </a:lnTo>
                <a:lnTo>
                  <a:pt x="0" y="8988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7817825" y="308478"/>
            <a:ext cx="1021972" cy="1175910"/>
          </a:xfrm>
          <a:custGeom>
            <a:avLst/>
            <a:gdLst/>
            <a:ahLst/>
            <a:cxnLst/>
            <a:rect r="r" b="b" t="t" l="l"/>
            <a:pathLst>
              <a:path h="1175910" w="1021972">
                <a:moveTo>
                  <a:pt x="0" y="0"/>
                </a:moveTo>
                <a:lnTo>
                  <a:pt x="1021973" y="0"/>
                </a:lnTo>
                <a:lnTo>
                  <a:pt x="1021973" y="1175910"/>
                </a:lnTo>
                <a:lnTo>
                  <a:pt x="0" y="11759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5739711" y="8761240"/>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D304E"/>
        </a:solidFill>
      </p:bgPr>
    </p:bg>
    <p:spTree>
      <p:nvGrpSpPr>
        <p:cNvPr id="1" name=""/>
        <p:cNvGrpSpPr/>
        <p:nvPr/>
      </p:nvGrpSpPr>
      <p:grpSpPr>
        <a:xfrm>
          <a:off x="0" y="0"/>
          <a:ext cx="0" cy="0"/>
          <a:chOff x="0" y="0"/>
          <a:chExt cx="0" cy="0"/>
        </a:xfrm>
      </p:grpSpPr>
      <p:grpSp>
        <p:nvGrpSpPr>
          <p:cNvPr name="Group 2" id="2"/>
          <p:cNvGrpSpPr/>
          <p:nvPr/>
        </p:nvGrpSpPr>
        <p:grpSpPr>
          <a:xfrm rot="0">
            <a:off x="1148825" y="896433"/>
            <a:ext cx="15990349" cy="8494135"/>
            <a:chOff x="0" y="0"/>
            <a:chExt cx="4211450" cy="2237138"/>
          </a:xfrm>
        </p:grpSpPr>
        <p:sp>
          <p:nvSpPr>
            <p:cNvPr name="Freeform 3" id="3"/>
            <p:cNvSpPr/>
            <p:nvPr/>
          </p:nvSpPr>
          <p:spPr>
            <a:xfrm flipH="false" flipV="false" rot="0">
              <a:off x="0" y="0"/>
              <a:ext cx="4211450" cy="2237138"/>
            </a:xfrm>
            <a:custGeom>
              <a:avLst/>
              <a:gdLst/>
              <a:ahLst/>
              <a:cxnLst/>
              <a:rect r="r" b="b" t="t" l="l"/>
              <a:pathLst>
                <a:path h="2237138" w="4211450">
                  <a:moveTo>
                    <a:pt x="17914" y="0"/>
                  </a:moveTo>
                  <a:lnTo>
                    <a:pt x="4193536" y="0"/>
                  </a:lnTo>
                  <a:cubicBezTo>
                    <a:pt x="4203429" y="0"/>
                    <a:pt x="4211450" y="8020"/>
                    <a:pt x="4211450" y="17914"/>
                  </a:cubicBezTo>
                  <a:lnTo>
                    <a:pt x="4211450" y="2219224"/>
                  </a:lnTo>
                  <a:cubicBezTo>
                    <a:pt x="4211450" y="2223975"/>
                    <a:pt x="4209562" y="2228532"/>
                    <a:pt x="4206203" y="2231891"/>
                  </a:cubicBezTo>
                  <a:cubicBezTo>
                    <a:pt x="4202843" y="2235251"/>
                    <a:pt x="4198287" y="2237138"/>
                    <a:pt x="4193536" y="2237138"/>
                  </a:cubicBezTo>
                  <a:lnTo>
                    <a:pt x="17914" y="2237138"/>
                  </a:lnTo>
                  <a:cubicBezTo>
                    <a:pt x="8020" y="2237138"/>
                    <a:pt x="0" y="2229118"/>
                    <a:pt x="0" y="2219224"/>
                  </a:cubicBezTo>
                  <a:lnTo>
                    <a:pt x="0" y="17914"/>
                  </a:lnTo>
                  <a:cubicBezTo>
                    <a:pt x="0" y="8020"/>
                    <a:pt x="8020" y="0"/>
                    <a:pt x="17914" y="0"/>
                  </a:cubicBezTo>
                  <a:close/>
                </a:path>
              </a:pathLst>
            </a:custGeom>
            <a:solidFill>
              <a:srgbClr val="F8F4E4"/>
            </a:solidFill>
          </p:spPr>
        </p:sp>
        <p:sp>
          <p:nvSpPr>
            <p:cNvPr name="TextBox 4" id="4"/>
            <p:cNvSpPr txBox="true"/>
            <p:nvPr/>
          </p:nvSpPr>
          <p:spPr>
            <a:xfrm>
              <a:off x="0" y="-47625"/>
              <a:ext cx="4211450" cy="228476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741561" y="9258300"/>
            <a:ext cx="883500" cy="1016580"/>
          </a:xfrm>
          <a:custGeom>
            <a:avLst/>
            <a:gdLst/>
            <a:ahLst/>
            <a:cxnLst/>
            <a:rect r="r" b="b" t="t" l="l"/>
            <a:pathLst>
              <a:path h="1016580" w="883500">
                <a:moveTo>
                  <a:pt x="0" y="0"/>
                </a:moveTo>
                <a:lnTo>
                  <a:pt x="883500" y="0"/>
                </a:lnTo>
                <a:lnTo>
                  <a:pt x="883500" y="1016580"/>
                </a:lnTo>
                <a:lnTo>
                  <a:pt x="0" y="10165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652889" y="7589691"/>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44886" y="1915446"/>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7430750" y="3552456"/>
            <a:ext cx="857250" cy="986376"/>
          </a:xfrm>
          <a:custGeom>
            <a:avLst/>
            <a:gdLst/>
            <a:ahLst/>
            <a:cxnLst/>
            <a:rect r="r" b="b" t="t" l="l"/>
            <a:pathLst>
              <a:path h="986376" w="857250">
                <a:moveTo>
                  <a:pt x="0" y="0"/>
                </a:moveTo>
                <a:lnTo>
                  <a:pt x="857250" y="0"/>
                </a:lnTo>
                <a:lnTo>
                  <a:pt x="857250" y="986375"/>
                </a:lnTo>
                <a:lnTo>
                  <a:pt x="0" y="986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164131" y="3434530"/>
            <a:ext cx="3265540" cy="326554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700">
              <a:solidFill>
                <a:srgbClr val="000000"/>
              </a:solidFill>
            </a:ln>
          </p:spPr>
        </p:sp>
      </p:grpSp>
      <p:grpSp>
        <p:nvGrpSpPr>
          <p:cNvPr name="Group 11" id="11"/>
          <p:cNvGrpSpPr/>
          <p:nvPr/>
        </p:nvGrpSpPr>
        <p:grpSpPr>
          <a:xfrm rot="0">
            <a:off x="7511230" y="3434530"/>
            <a:ext cx="3265540" cy="326554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700">
              <a:solidFill>
                <a:srgbClr val="000000"/>
              </a:solidFill>
            </a:ln>
          </p:spPr>
        </p:sp>
      </p:grpSp>
      <p:sp>
        <p:nvSpPr>
          <p:cNvPr name="Freeform 13" id="13"/>
          <p:cNvSpPr/>
          <p:nvPr/>
        </p:nvSpPr>
        <p:spPr>
          <a:xfrm flipH="false" flipV="false" rot="0">
            <a:off x="455552" y="6700070"/>
            <a:ext cx="2974910" cy="2823460"/>
          </a:xfrm>
          <a:custGeom>
            <a:avLst/>
            <a:gdLst/>
            <a:ahLst/>
            <a:cxnLst/>
            <a:rect r="r" b="b" t="t" l="l"/>
            <a:pathLst>
              <a:path h="2823460" w="2974910">
                <a:moveTo>
                  <a:pt x="0" y="0"/>
                </a:moveTo>
                <a:lnTo>
                  <a:pt x="2974909" y="0"/>
                </a:lnTo>
                <a:lnTo>
                  <a:pt x="2974909" y="2823460"/>
                </a:lnTo>
                <a:lnTo>
                  <a:pt x="0" y="28234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5495947" y="605057"/>
            <a:ext cx="2357828" cy="2194923"/>
          </a:xfrm>
          <a:custGeom>
            <a:avLst/>
            <a:gdLst/>
            <a:ahLst/>
            <a:cxnLst/>
            <a:rect r="r" b="b" t="t" l="l"/>
            <a:pathLst>
              <a:path h="2194923" w="2357828">
                <a:moveTo>
                  <a:pt x="0" y="0"/>
                </a:moveTo>
                <a:lnTo>
                  <a:pt x="2357828" y="0"/>
                </a:lnTo>
                <a:lnTo>
                  <a:pt x="2357828" y="2194924"/>
                </a:lnTo>
                <a:lnTo>
                  <a:pt x="0" y="21949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629189">
            <a:off x="16288858" y="2453175"/>
            <a:ext cx="1680876" cy="1898320"/>
          </a:xfrm>
          <a:custGeom>
            <a:avLst/>
            <a:gdLst/>
            <a:ahLst/>
            <a:cxnLst/>
            <a:rect r="r" b="b" t="t" l="l"/>
            <a:pathLst>
              <a:path h="1898320" w="1680876">
                <a:moveTo>
                  <a:pt x="0" y="0"/>
                </a:moveTo>
                <a:lnTo>
                  <a:pt x="1680876" y="0"/>
                </a:lnTo>
                <a:lnTo>
                  <a:pt x="1680876" y="1898320"/>
                </a:lnTo>
                <a:lnTo>
                  <a:pt x="0" y="18983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3741561" y="1817933"/>
            <a:ext cx="10804878" cy="973801"/>
          </a:xfrm>
          <a:prstGeom prst="rect">
            <a:avLst/>
          </a:prstGeom>
        </p:spPr>
        <p:txBody>
          <a:bodyPr anchor="t" rtlCol="false" tIns="0" lIns="0" bIns="0" rIns="0">
            <a:spAutoFit/>
          </a:bodyPr>
          <a:lstStyle/>
          <a:p>
            <a:pPr algn="ctr">
              <a:lnSpc>
                <a:spcPts val="7156"/>
              </a:lnSpc>
            </a:pPr>
            <a:r>
              <a:rPr lang="en-US" sz="8041">
                <a:solidFill>
                  <a:srgbClr val="000000"/>
                </a:solidFill>
                <a:latin typeface="Caveat Brush"/>
                <a:ea typeface="Caveat Brush"/>
                <a:cs typeface="Caveat Brush"/>
                <a:sym typeface="Caveat Brush"/>
              </a:rPr>
              <a:t>ANGGOTA KELOMPOK</a:t>
            </a:r>
          </a:p>
        </p:txBody>
      </p:sp>
      <p:sp>
        <p:nvSpPr>
          <p:cNvPr name="TextBox 17" id="17"/>
          <p:cNvSpPr txBox="true"/>
          <p:nvPr/>
        </p:nvSpPr>
        <p:spPr>
          <a:xfrm rot="0">
            <a:off x="6842815" y="6976295"/>
            <a:ext cx="4602369" cy="613396"/>
          </a:xfrm>
          <a:prstGeom prst="rect">
            <a:avLst/>
          </a:prstGeom>
        </p:spPr>
        <p:txBody>
          <a:bodyPr anchor="t" rtlCol="false" tIns="0" lIns="0" bIns="0" rIns="0">
            <a:spAutoFit/>
          </a:bodyPr>
          <a:lstStyle/>
          <a:p>
            <a:pPr algn="ctr">
              <a:lnSpc>
                <a:spcPts val="5040"/>
              </a:lnSpc>
            </a:pPr>
            <a:r>
              <a:rPr lang="en-US" b="true" sz="3600">
                <a:solidFill>
                  <a:srgbClr val="000000"/>
                </a:solidFill>
                <a:latin typeface="Open Sans Bold"/>
                <a:ea typeface="Open Sans Bold"/>
                <a:cs typeface="Open Sans Bold"/>
                <a:sym typeface="Open Sans Bold"/>
              </a:rPr>
              <a:t>Ahmad Fauzan</a:t>
            </a:r>
          </a:p>
        </p:txBody>
      </p:sp>
      <p:sp>
        <p:nvSpPr>
          <p:cNvPr name="TextBox 18" id="18"/>
          <p:cNvSpPr txBox="true"/>
          <p:nvPr/>
        </p:nvSpPr>
        <p:spPr>
          <a:xfrm rot="0">
            <a:off x="2495717" y="6976295"/>
            <a:ext cx="4602369" cy="613396"/>
          </a:xfrm>
          <a:prstGeom prst="rect">
            <a:avLst/>
          </a:prstGeom>
        </p:spPr>
        <p:txBody>
          <a:bodyPr anchor="t" rtlCol="false" tIns="0" lIns="0" bIns="0" rIns="0">
            <a:spAutoFit/>
          </a:bodyPr>
          <a:lstStyle/>
          <a:p>
            <a:pPr algn="ctr">
              <a:lnSpc>
                <a:spcPts val="5040"/>
              </a:lnSpc>
            </a:pPr>
            <a:r>
              <a:rPr lang="en-US" b="true" sz="3600">
                <a:solidFill>
                  <a:srgbClr val="000000"/>
                </a:solidFill>
                <a:latin typeface="Open Sans Bold"/>
                <a:ea typeface="Open Sans Bold"/>
                <a:cs typeface="Open Sans Bold"/>
                <a:sym typeface="Open Sans Bold"/>
              </a:rPr>
              <a:t>Dava Bilal Fauzan</a:t>
            </a:r>
          </a:p>
        </p:txBody>
      </p:sp>
      <p:sp>
        <p:nvSpPr>
          <p:cNvPr name="Freeform 19" id="19"/>
          <p:cNvSpPr/>
          <p:nvPr/>
        </p:nvSpPr>
        <p:spPr>
          <a:xfrm flipH="true" flipV="false" rot="-2232088">
            <a:off x="500165" y="5196678"/>
            <a:ext cx="1609738" cy="1817979"/>
          </a:xfrm>
          <a:custGeom>
            <a:avLst/>
            <a:gdLst/>
            <a:ahLst/>
            <a:cxnLst/>
            <a:rect r="r" b="b" t="t" l="l"/>
            <a:pathLst>
              <a:path h="1817979" w="1609738">
                <a:moveTo>
                  <a:pt x="1609738" y="0"/>
                </a:moveTo>
                <a:lnTo>
                  <a:pt x="0" y="0"/>
                </a:lnTo>
                <a:lnTo>
                  <a:pt x="0" y="1817979"/>
                </a:lnTo>
                <a:lnTo>
                  <a:pt x="1609738" y="1817979"/>
                </a:lnTo>
                <a:lnTo>
                  <a:pt x="160973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776487">
            <a:off x="16194508" y="4521244"/>
            <a:ext cx="1557781" cy="2105109"/>
          </a:xfrm>
          <a:custGeom>
            <a:avLst/>
            <a:gdLst/>
            <a:ahLst/>
            <a:cxnLst/>
            <a:rect r="r" b="b" t="t" l="l"/>
            <a:pathLst>
              <a:path h="2105109" w="1557781">
                <a:moveTo>
                  <a:pt x="0" y="0"/>
                </a:moveTo>
                <a:lnTo>
                  <a:pt x="1557781" y="0"/>
                </a:lnTo>
                <a:lnTo>
                  <a:pt x="1557781" y="2105110"/>
                </a:lnTo>
                <a:lnTo>
                  <a:pt x="0" y="21051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434513">
            <a:off x="240822" y="3445575"/>
            <a:ext cx="1557781" cy="2105109"/>
          </a:xfrm>
          <a:custGeom>
            <a:avLst/>
            <a:gdLst/>
            <a:ahLst/>
            <a:cxnLst/>
            <a:rect r="r" b="b" t="t" l="l"/>
            <a:pathLst>
              <a:path h="2105109" w="1557781">
                <a:moveTo>
                  <a:pt x="0" y="0"/>
                </a:moveTo>
                <a:lnTo>
                  <a:pt x="1557781" y="0"/>
                </a:lnTo>
                <a:lnTo>
                  <a:pt x="1557781" y="2105110"/>
                </a:lnTo>
                <a:lnTo>
                  <a:pt x="0" y="21051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D304E"/>
        </a:solidFill>
      </p:bgPr>
    </p:bg>
    <p:spTree>
      <p:nvGrpSpPr>
        <p:cNvPr id="1" name=""/>
        <p:cNvGrpSpPr/>
        <p:nvPr/>
      </p:nvGrpSpPr>
      <p:grpSpPr>
        <a:xfrm>
          <a:off x="0" y="0"/>
          <a:ext cx="0" cy="0"/>
          <a:chOff x="0" y="0"/>
          <a:chExt cx="0" cy="0"/>
        </a:xfrm>
      </p:grpSpPr>
      <p:grpSp>
        <p:nvGrpSpPr>
          <p:cNvPr name="Group 2" id="2"/>
          <p:cNvGrpSpPr/>
          <p:nvPr/>
        </p:nvGrpSpPr>
        <p:grpSpPr>
          <a:xfrm rot="0">
            <a:off x="1148825" y="896433"/>
            <a:ext cx="15990349" cy="8494135"/>
            <a:chOff x="0" y="0"/>
            <a:chExt cx="4211450" cy="2237138"/>
          </a:xfrm>
        </p:grpSpPr>
        <p:sp>
          <p:nvSpPr>
            <p:cNvPr name="Freeform 3" id="3"/>
            <p:cNvSpPr/>
            <p:nvPr/>
          </p:nvSpPr>
          <p:spPr>
            <a:xfrm flipH="false" flipV="false" rot="0">
              <a:off x="0" y="0"/>
              <a:ext cx="4211450" cy="2237138"/>
            </a:xfrm>
            <a:custGeom>
              <a:avLst/>
              <a:gdLst/>
              <a:ahLst/>
              <a:cxnLst/>
              <a:rect r="r" b="b" t="t" l="l"/>
              <a:pathLst>
                <a:path h="2237138" w="4211450">
                  <a:moveTo>
                    <a:pt x="17914" y="0"/>
                  </a:moveTo>
                  <a:lnTo>
                    <a:pt x="4193536" y="0"/>
                  </a:lnTo>
                  <a:cubicBezTo>
                    <a:pt x="4203429" y="0"/>
                    <a:pt x="4211450" y="8020"/>
                    <a:pt x="4211450" y="17914"/>
                  </a:cubicBezTo>
                  <a:lnTo>
                    <a:pt x="4211450" y="2219224"/>
                  </a:lnTo>
                  <a:cubicBezTo>
                    <a:pt x="4211450" y="2223975"/>
                    <a:pt x="4209562" y="2228532"/>
                    <a:pt x="4206203" y="2231891"/>
                  </a:cubicBezTo>
                  <a:cubicBezTo>
                    <a:pt x="4202843" y="2235251"/>
                    <a:pt x="4198287" y="2237138"/>
                    <a:pt x="4193536" y="2237138"/>
                  </a:cubicBezTo>
                  <a:lnTo>
                    <a:pt x="17914" y="2237138"/>
                  </a:lnTo>
                  <a:cubicBezTo>
                    <a:pt x="8020" y="2237138"/>
                    <a:pt x="0" y="2229118"/>
                    <a:pt x="0" y="2219224"/>
                  </a:cubicBezTo>
                  <a:lnTo>
                    <a:pt x="0" y="17914"/>
                  </a:lnTo>
                  <a:cubicBezTo>
                    <a:pt x="0" y="8020"/>
                    <a:pt x="8020" y="0"/>
                    <a:pt x="17914" y="0"/>
                  </a:cubicBezTo>
                  <a:close/>
                </a:path>
              </a:pathLst>
            </a:custGeom>
            <a:solidFill>
              <a:srgbClr val="F8F4E4"/>
            </a:solidFill>
          </p:spPr>
        </p:sp>
        <p:sp>
          <p:nvSpPr>
            <p:cNvPr name="TextBox 4" id="4"/>
            <p:cNvSpPr txBox="true"/>
            <p:nvPr/>
          </p:nvSpPr>
          <p:spPr>
            <a:xfrm>
              <a:off x="0" y="-47625"/>
              <a:ext cx="4211450" cy="228476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741561" y="9364200"/>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990850" y="8555418"/>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44886" y="1915446"/>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7172974" y="2298547"/>
            <a:ext cx="857250" cy="986376"/>
          </a:xfrm>
          <a:custGeom>
            <a:avLst/>
            <a:gdLst/>
            <a:ahLst/>
            <a:cxnLst/>
            <a:rect r="r" b="b" t="t" l="l"/>
            <a:pathLst>
              <a:path h="986376" w="857250">
                <a:moveTo>
                  <a:pt x="0" y="0"/>
                </a:moveTo>
                <a:lnTo>
                  <a:pt x="857250" y="0"/>
                </a:lnTo>
                <a:lnTo>
                  <a:pt x="857250" y="986375"/>
                </a:lnTo>
                <a:lnTo>
                  <a:pt x="0" y="986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532431" y="3333827"/>
            <a:ext cx="11539433" cy="5033631"/>
          </a:xfrm>
          <a:prstGeom prst="rect">
            <a:avLst/>
          </a:prstGeom>
        </p:spPr>
        <p:txBody>
          <a:bodyPr anchor="t" rtlCol="false" tIns="0" lIns="0" bIns="0" rIns="0">
            <a:spAutoFit/>
          </a:bodyPr>
          <a:lstStyle/>
          <a:p>
            <a:pPr algn="ctr">
              <a:lnSpc>
                <a:spcPts val="4480"/>
              </a:lnSpc>
            </a:pPr>
            <a:r>
              <a:rPr lang="en-US" b="true" sz="3200">
                <a:solidFill>
                  <a:srgbClr val="000000"/>
                </a:solidFill>
                <a:latin typeface="Open Sans Bold"/>
                <a:ea typeface="Open Sans Bold"/>
                <a:cs typeface="Open Sans Bold"/>
                <a:sym typeface="Open Sans Bold"/>
              </a:rPr>
              <a:t>Pengertian microwave link adalah sistem komunikasi yang menggunakan gelombang radio dalam frekuensi mikro untuk mengirimkan informasi dari satu titik ke titik lainnya. Sistem ini sering digunakan untuk komunikasi jarak jauh, seperti dalam telekomunikasi, penyiaran, dan jaringan komputer. Microwave link memungkinkan transmisi data yang cepat dan efisien tanpa memerlukan kabel fisik, menjadikannya pilihan yang populer dalam berbagai aplikasi teknologi modern.</a:t>
            </a:r>
          </a:p>
        </p:txBody>
      </p:sp>
      <p:sp>
        <p:nvSpPr>
          <p:cNvPr name="Freeform 10" id="10"/>
          <p:cNvSpPr/>
          <p:nvPr/>
        </p:nvSpPr>
        <p:spPr>
          <a:xfrm flipH="false" flipV="false" rot="553879">
            <a:off x="722025" y="6931416"/>
            <a:ext cx="1845723" cy="2583073"/>
          </a:xfrm>
          <a:custGeom>
            <a:avLst/>
            <a:gdLst/>
            <a:ahLst/>
            <a:cxnLst/>
            <a:rect r="r" b="b" t="t" l="l"/>
            <a:pathLst>
              <a:path h="2583073" w="1845723">
                <a:moveTo>
                  <a:pt x="0" y="0"/>
                </a:moveTo>
                <a:lnTo>
                  <a:pt x="1845722" y="0"/>
                </a:lnTo>
                <a:lnTo>
                  <a:pt x="1845722" y="2583073"/>
                </a:lnTo>
                <a:lnTo>
                  <a:pt x="0" y="25830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316004" y="3747204"/>
            <a:ext cx="2350854" cy="2792591"/>
          </a:xfrm>
          <a:custGeom>
            <a:avLst/>
            <a:gdLst/>
            <a:ahLst/>
            <a:cxnLst/>
            <a:rect r="r" b="b" t="t" l="l"/>
            <a:pathLst>
              <a:path h="2792591" w="2350854">
                <a:moveTo>
                  <a:pt x="0" y="0"/>
                </a:moveTo>
                <a:lnTo>
                  <a:pt x="2350854" y="0"/>
                </a:lnTo>
                <a:lnTo>
                  <a:pt x="2350854" y="2792592"/>
                </a:lnTo>
                <a:lnTo>
                  <a:pt x="0" y="2792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5119489" y="7243128"/>
            <a:ext cx="2910736" cy="2402680"/>
          </a:xfrm>
          <a:custGeom>
            <a:avLst/>
            <a:gdLst/>
            <a:ahLst/>
            <a:cxnLst/>
            <a:rect r="r" b="b" t="t" l="l"/>
            <a:pathLst>
              <a:path h="2402680" w="2910736">
                <a:moveTo>
                  <a:pt x="0" y="0"/>
                </a:moveTo>
                <a:lnTo>
                  <a:pt x="2910735" y="0"/>
                </a:lnTo>
                <a:lnTo>
                  <a:pt x="2910735" y="2402680"/>
                </a:lnTo>
                <a:lnTo>
                  <a:pt x="0" y="24026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608407">
            <a:off x="15690795" y="4843241"/>
            <a:ext cx="2247948" cy="2219338"/>
          </a:xfrm>
          <a:custGeom>
            <a:avLst/>
            <a:gdLst/>
            <a:ahLst/>
            <a:cxnLst/>
            <a:rect r="r" b="b" t="t" l="l"/>
            <a:pathLst>
              <a:path h="2219338" w="2247948">
                <a:moveTo>
                  <a:pt x="0" y="0"/>
                </a:moveTo>
                <a:lnTo>
                  <a:pt x="2247947" y="0"/>
                </a:lnTo>
                <a:lnTo>
                  <a:pt x="2247947" y="2219337"/>
                </a:lnTo>
                <a:lnTo>
                  <a:pt x="0" y="221933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133900" y="416452"/>
            <a:ext cx="15990349" cy="8494135"/>
            <a:chOff x="0" y="0"/>
            <a:chExt cx="4211450" cy="2237138"/>
          </a:xfrm>
        </p:grpSpPr>
        <p:sp>
          <p:nvSpPr>
            <p:cNvPr name="Freeform 3" id="3"/>
            <p:cNvSpPr/>
            <p:nvPr/>
          </p:nvSpPr>
          <p:spPr>
            <a:xfrm flipH="false" flipV="false" rot="0">
              <a:off x="0" y="0"/>
              <a:ext cx="4211450" cy="2237138"/>
            </a:xfrm>
            <a:custGeom>
              <a:avLst/>
              <a:gdLst/>
              <a:ahLst/>
              <a:cxnLst/>
              <a:rect r="r" b="b" t="t" l="l"/>
              <a:pathLst>
                <a:path h="2237138" w="4211450">
                  <a:moveTo>
                    <a:pt x="17914" y="0"/>
                  </a:moveTo>
                  <a:lnTo>
                    <a:pt x="4193536" y="0"/>
                  </a:lnTo>
                  <a:cubicBezTo>
                    <a:pt x="4203429" y="0"/>
                    <a:pt x="4211450" y="8020"/>
                    <a:pt x="4211450" y="17914"/>
                  </a:cubicBezTo>
                  <a:lnTo>
                    <a:pt x="4211450" y="2219224"/>
                  </a:lnTo>
                  <a:cubicBezTo>
                    <a:pt x="4211450" y="2223975"/>
                    <a:pt x="4209562" y="2228532"/>
                    <a:pt x="4206203" y="2231891"/>
                  </a:cubicBezTo>
                  <a:cubicBezTo>
                    <a:pt x="4202843" y="2235251"/>
                    <a:pt x="4198287" y="2237138"/>
                    <a:pt x="4193536" y="2237138"/>
                  </a:cubicBezTo>
                  <a:lnTo>
                    <a:pt x="17914" y="2237138"/>
                  </a:lnTo>
                  <a:cubicBezTo>
                    <a:pt x="8020" y="2237138"/>
                    <a:pt x="0" y="2229118"/>
                    <a:pt x="0" y="2219224"/>
                  </a:cubicBezTo>
                  <a:lnTo>
                    <a:pt x="0" y="17914"/>
                  </a:lnTo>
                  <a:cubicBezTo>
                    <a:pt x="0" y="8020"/>
                    <a:pt x="8020" y="0"/>
                    <a:pt x="17914" y="0"/>
                  </a:cubicBezTo>
                  <a:close/>
                </a:path>
              </a:pathLst>
            </a:custGeom>
            <a:solidFill>
              <a:srgbClr val="F8F4E4"/>
            </a:solidFill>
          </p:spPr>
        </p:sp>
        <p:sp>
          <p:nvSpPr>
            <p:cNvPr name="TextBox 4" id="4"/>
            <p:cNvSpPr txBox="true"/>
            <p:nvPr/>
          </p:nvSpPr>
          <p:spPr>
            <a:xfrm>
              <a:off x="0" y="-47625"/>
              <a:ext cx="4211450" cy="228476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6853" y="739537"/>
            <a:ext cx="1021972" cy="1175910"/>
          </a:xfrm>
          <a:custGeom>
            <a:avLst/>
            <a:gdLst/>
            <a:ahLst/>
            <a:cxnLst/>
            <a:rect r="r" b="b" t="t" l="l"/>
            <a:pathLst>
              <a:path h="1175910" w="1021972">
                <a:moveTo>
                  <a:pt x="0" y="0"/>
                </a:moveTo>
                <a:lnTo>
                  <a:pt x="1021972" y="0"/>
                </a:lnTo>
                <a:lnTo>
                  <a:pt x="1021972" y="1175909"/>
                </a:lnTo>
                <a:lnTo>
                  <a:pt x="0" y="11759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063919" y="7931806"/>
            <a:ext cx="762044" cy="876829"/>
          </a:xfrm>
          <a:custGeom>
            <a:avLst/>
            <a:gdLst/>
            <a:ahLst/>
            <a:cxnLst/>
            <a:rect r="r" b="b" t="t" l="l"/>
            <a:pathLst>
              <a:path h="876829" w="762044">
                <a:moveTo>
                  <a:pt x="0" y="0"/>
                </a:moveTo>
                <a:lnTo>
                  <a:pt x="762044" y="0"/>
                </a:lnTo>
                <a:lnTo>
                  <a:pt x="762044" y="876829"/>
                </a:lnTo>
                <a:lnTo>
                  <a:pt x="0" y="8768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893784" y="2084217"/>
            <a:ext cx="761574" cy="876288"/>
          </a:xfrm>
          <a:custGeom>
            <a:avLst/>
            <a:gdLst/>
            <a:ahLst/>
            <a:cxnLst/>
            <a:rect r="r" b="b" t="t" l="l"/>
            <a:pathLst>
              <a:path h="876288" w="761574">
                <a:moveTo>
                  <a:pt x="0" y="0"/>
                </a:moveTo>
                <a:lnTo>
                  <a:pt x="761574" y="0"/>
                </a:lnTo>
                <a:lnTo>
                  <a:pt x="761574" y="876288"/>
                </a:lnTo>
                <a:lnTo>
                  <a:pt x="0" y="876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2805003" y="9390567"/>
            <a:ext cx="857250" cy="986376"/>
          </a:xfrm>
          <a:custGeom>
            <a:avLst/>
            <a:gdLst/>
            <a:ahLst/>
            <a:cxnLst/>
            <a:rect r="r" b="b" t="t" l="l"/>
            <a:pathLst>
              <a:path h="986376" w="857250">
                <a:moveTo>
                  <a:pt x="0" y="0"/>
                </a:moveTo>
                <a:lnTo>
                  <a:pt x="857250" y="0"/>
                </a:lnTo>
                <a:lnTo>
                  <a:pt x="857250" y="986376"/>
                </a:lnTo>
                <a:lnTo>
                  <a:pt x="0" y="9863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560885" y="3669605"/>
            <a:ext cx="5159392" cy="512865"/>
          </a:xfrm>
          <a:prstGeom prst="rect">
            <a:avLst/>
          </a:prstGeom>
        </p:spPr>
        <p:txBody>
          <a:bodyPr anchor="t" rtlCol="false" tIns="0" lIns="0" bIns="0" rIns="0">
            <a:spAutoFit/>
          </a:bodyPr>
          <a:lstStyle/>
          <a:p>
            <a:pPr algn="ctr">
              <a:lnSpc>
                <a:spcPts val="4323"/>
              </a:lnSpc>
            </a:pPr>
            <a:r>
              <a:rPr lang="en-US" sz="3088">
                <a:solidFill>
                  <a:srgbClr val="000000"/>
                </a:solidFill>
                <a:latin typeface="Open Sans"/>
                <a:ea typeface="Open Sans"/>
                <a:cs typeface="Open Sans"/>
                <a:sym typeface="Open Sans"/>
              </a:rPr>
              <a:t>Indoor unit (idu) </a:t>
            </a:r>
          </a:p>
        </p:txBody>
      </p:sp>
      <p:sp>
        <p:nvSpPr>
          <p:cNvPr name="TextBox 10" id="10"/>
          <p:cNvSpPr txBox="true"/>
          <p:nvPr/>
        </p:nvSpPr>
        <p:spPr>
          <a:xfrm rot="0">
            <a:off x="2417446" y="3694760"/>
            <a:ext cx="956298" cy="914358"/>
          </a:xfrm>
          <a:prstGeom prst="rect">
            <a:avLst/>
          </a:prstGeom>
        </p:spPr>
        <p:txBody>
          <a:bodyPr anchor="t" rtlCol="false" tIns="0" lIns="0" bIns="0" rIns="0">
            <a:spAutoFit/>
          </a:bodyPr>
          <a:lstStyle/>
          <a:p>
            <a:pPr algn="ctr">
              <a:lnSpc>
                <a:spcPts val="6696"/>
              </a:lnSpc>
            </a:pPr>
            <a:r>
              <a:rPr lang="en-US" sz="7524">
                <a:solidFill>
                  <a:srgbClr val="000000"/>
                </a:solidFill>
                <a:latin typeface="Caveat Brush"/>
                <a:ea typeface="Caveat Brush"/>
                <a:cs typeface="Caveat Brush"/>
                <a:sym typeface="Caveat Brush"/>
              </a:rPr>
              <a:t>1</a:t>
            </a:r>
          </a:p>
        </p:txBody>
      </p:sp>
      <p:grpSp>
        <p:nvGrpSpPr>
          <p:cNvPr name="Group 11" id="11"/>
          <p:cNvGrpSpPr/>
          <p:nvPr/>
        </p:nvGrpSpPr>
        <p:grpSpPr>
          <a:xfrm rot="0">
            <a:off x="10390950" y="3466160"/>
            <a:ext cx="5479604" cy="30459021"/>
            <a:chOff x="0" y="0"/>
            <a:chExt cx="1542299" cy="8573050"/>
          </a:xfrm>
        </p:grpSpPr>
        <p:sp>
          <p:nvSpPr>
            <p:cNvPr name="Freeform 12" id="12"/>
            <p:cNvSpPr/>
            <p:nvPr/>
          </p:nvSpPr>
          <p:spPr>
            <a:xfrm flipH="false" flipV="false" rot="0">
              <a:off x="0" y="0"/>
              <a:ext cx="1542299" cy="8573050"/>
            </a:xfrm>
            <a:custGeom>
              <a:avLst/>
              <a:gdLst/>
              <a:ahLst/>
              <a:cxnLst/>
              <a:rect r="r" b="b" t="t" l="l"/>
              <a:pathLst>
                <a:path h="8573050" w="1542299">
                  <a:moveTo>
                    <a:pt x="72056" y="0"/>
                  </a:moveTo>
                  <a:lnTo>
                    <a:pt x="1470243" y="0"/>
                  </a:lnTo>
                  <a:cubicBezTo>
                    <a:pt x="1510039" y="0"/>
                    <a:pt x="1542299" y="32261"/>
                    <a:pt x="1542299" y="72056"/>
                  </a:cubicBezTo>
                  <a:lnTo>
                    <a:pt x="1542299" y="8500994"/>
                  </a:lnTo>
                  <a:cubicBezTo>
                    <a:pt x="1542299" y="8540790"/>
                    <a:pt x="1510039" y="8573050"/>
                    <a:pt x="1470243" y="8573050"/>
                  </a:cubicBezTo>
                  <a:lnTo>
                    <a:pt x="72056" y="8573050"/>
                  </a:lnTo>
                  <a:cubicBezTo>
                    <a:pt x="32261" y="8573050"/>
                    <a:pt x="0" y="8540790"/>
                    <a:pt x="0" y="8500994"/>
                  </a:cubicBezTo>
                  <a:lnTo>
                    <a:pt x="0" y="72056"/>
                  </a:lnTo>
                  <a:cubicBezTo>
                    <a:pt x="0" y="32261"/>
                    <a:pt x="32261" y="0"/>
                    <a:pt x="72056" y="0"/>
                  </a:cubicBezTo>
                  <a:close/>
                </a:path>
              </a:pathLst>
            </a:custGeom>
            <a:solidFill>
              <a:srgbClr val="DF7FB3"/>
            </a:solidFill>
          </p:spPr>
        </p:sp>
        <p:sp>
          <p:nvSpPr>
            <p:cNvPr name="TextBox 13" id="13"/>
            <p:cNvSpPr txBox="true"/>
            <p:nvPr/>
          </p:nvSpPr>
          <p:spPr>
            <a:xfrm>
              <a:off x="0" y="-47625"/>
              <a:ext cx="1542299" cy="8620675"/>
            </a:xfrm>
            <a:prstGeom prst="rect">
              <a:avLst/>
            </a:prstGeom>
          </p:spPr>
          <p:txBody>
            <a:bodyPr anchor="ctr" rtlCol="false" tIns="47535" lIns="47535" bIns="47535" rIns="47535"/>
            <a:lstStyle/>
            <a:p>
              <a:pPr algn="ctr">
                <a:lnSpc>
                  <a:spcPts val="2659"/>
                </a:lnSpc>
              </a:pPr>
              <a:r>
                <a:rPr lang="en-US" sz="1899">
                  <a:solidFill>
                    <a:srgbClr val="000000"/>
                  </a:solidFill>
                  <a:latin typeface="Arimo"/>
                  <a:ea typeface="Arimo"/>
                  <a:cs typeface="Arimo"/>
                  <a:sym typeface="Arimo"/>
                </a:rPr>
                <a:t>Ciri ciri microwave link Microwave link adalah sistem komunikasi nirkabel jarak jauh yang menggunakan gelombang mikro (microwave) untuk mengirimkan data dari satu titik ke titik lain melalui jalur Line of Sight (LOS) atau harus saling terlihat tanpa halangan.</a:t>
              </a:r>
            </a:p>
            <a:p>
              <a:pPr algn="ctr">
                <a:lnSpc>
                  <a:spcPts val="2659"/>
                </a:lnSpc>
              </a:pPr>
            </a:p>
            <a:p>
              <a:pPr algn="ctr">
                <a:lnSpc>
                  <a:spcPts val="2659"/>
                </a:lnSpc>
              </a:pPr>
              <a:r>
                <a:rPr lang="en-US" sz="1899">
                  <a:solidFill>
                    <a:srgbClr val="000000"/>
                  </a:solidFill>
                  <a:latin typeface="Arimo"/>
                  <a:ea typeface="Arimo"/>
                  <a:cs typeface="Arimo"/>
                  <a:sym typeface="Arimo"/>
                </a:rPr>
                <a:t>Berikut penjelasan singkat dan jelas:</a:t>
              </a:r>
            </a:p>
            <a:p>
              <a:pPr algn="ctr">
                <a:lnSpc>
                  <a:spcPts val="2659"/>
                </a:lnSpc>
              </a:pPr>
            </a:p>
            <a:p>
              <a:pPr algn="ctr">
                <a:lnSpc>
                  <a:spcPts val="2659"/>
                </a:lnSpc>
              </a:pPr>
            </a:p>
            <a:p>
              <a:pPr algn="ctr">
                <a:lnSpc>
                  <a:spcPts val="2659"/>
                </a:lnSpc>
              </a:pPr>
              <a:r>
                <a:rPr lang="en-US" sz="1899">
                  <a:solidFill>
                    <a:srgbClr val="000000"/>
                  </a:solidFill>
                  <a:latin typeface="Arimo"/>
                  <a:ea typeface="Arimo"/>
                  <a:cs typeface="Arimo"/>
                  <a:sym typeface="Arimo"/>
                </a:rPr>
                <a:t>---</a:t>
              </a:r>
            </a:p>
            <a:p>
              <a:pPr algn="ctr">
                <a:lnSpc>
                  <a:spcPts val="2659"/>
                </a:lnSpc>
              </a:pPr>
            </a:p>
            <a:p>
              <a:pPr algn="ctr">
                <a:lnSpc>
                  <a:spcPts val="2659"/>
                </a:lnSpc>
              </a:pPr>
              <a:r>
                <a:rPr lang="en-US" sz="1899">
                  <a:solidFill>
                    <a:srgbClr val="000000"/>
                  </a:solidFill>
                  <a:latin typeface="Arimo"/>
                  <a:ea typeface="Arimo"/>
                  <a:cs typeface="Arimo"/>
                  <a:sym typeface="Arimo"/>
                </a:rPr>
                <a:t>Pengertian Microwave Link</a:t>
              </a:r>
            </a:p>
            <a:p>
              <a:pPr algn="ctr">
                <a:lnSpc>
                  <a:spcPts val="2659"/>
                </a:lnSpc>
              </a:pPr>
            </a:p>
            <a:p>
              <a:pPr algn="ctr">
                <a:lnSpc>
                  <a:spcPts val="2659"/>
                </a:lnSpc>
              </a:pPr>
              <a:r>
                <a:rPr lang="en-US" sz="1899">
                  <a:solidFill>
                    <a:srgbClr val="000000"/>
                  </a:solidFill>
                  <a:latin typeface="Arimo"/>
                  <a:ea typeface="Arimo"/>
                  <a:cs typeface="Arimo"/>
                  <a:sym typeface="Arimo"/>
                </a:rPr>
                <a:t>Microwave link adalah teknologi pemancar–penerima (transmitter–receiver) yang memanfaatkan frekuensi tinggi (biasanya 1–60 GHz) untuk mengirimkan data seperti suara, video, dan internet dengan kecepatan tinggi.</a:t>
              </a:r>
            </a:p>
            <a:p>
              <a:pPr algn="ctr">
                <a:lnSpc>
                  <a:spcPts val="2659"/>
                </a:lnSpc>
              </a:pPr>
            </a:p>
            <a:p>
              <a:pPr algn="ctr">
                <a:lnSpc>
                  <a:spcPts val="2659"/>
                </a:lnSpc>
              </a:pPr>
            </a:p>
            <a:p>
              <a:pPr algn="ctr">
                <a:lnSpc>
                  <a:spcPts val="2659"/>
                </a:lnSpc>
              </a:pPr>
              <a:r>
                <a:rPr lang="en-US" sz="1899">
                  <a:solidFill>
                    <a:srgbClr val="000000"/>
                  </a:solidFill>
                  <a:latin typeface="Arimo"/>
                  <a:ea typeface="Arimo"/>
                  <a:cs typeface="Arimo"/>
                  <a:sym typeface="Arimo"/>
                </a:rPr>
                <a:t>---</a:t>
              </a:r>
            </a:p>
            <a:p>
              <a:pPr algn="ctr">
                <a:lnSpc>
                  <a:spcPts val="2659"/>
                </a:lnSpc>
              </a:pPr>
            </a:p>
            <a:p>
              <a:pPr algn="ctr">
                <a:lnSpc>
                  <a:spcPts val="2659"/>
                </a:lnSpc>
              </a:pPr>
              <a:r>
                <a:rPr lang="en-US" sz="1899">
                  <a:solidFill>
                    <a:srgbClr val="000000"/>
                  </a:solidFill>
                  <a:latin typeface="Arimo"/>
                  <a:ea typeface="Arimo"/>
                  <a:cs typeface="Arimo"/>
                  <a:sym typeface="Arimo"/>
                </a:rPr>
                <a:t>Cara Kerja</a:t>
              </a:r>
            </a:p>
            <a:p>
              <a:pPr algn="ctr">
                <a:lnSpc>
                  <a:spcPts val="2659"/>
                </a:lnSpc>
              </a:pPr>
            </a:p>
            <a:p>
              <a:pPr algn="ctr">
                <a:lnSpc>
                  <a:spcPts val="2659"/>
                </a:lnSpc>
              </a:pPr>
              <a:r>
                <a:rPr lang="en-US" sz="1899">
                  <a:solidFill>
                    <a:srgbClr val="000000"/>
                  </a:solidFill>
                  <a:latin typeface="Arimo"/>
                  <a:ea typeface="Arimo"/>
                  <a:cs typeface="Arimo"/>
                  <a:sym typeface="Arimo"/>
                </a:rPr>
                <a:t>1. Sinyal dari perangkat jaringan (misal router) dikirim ke pemancar microwave (antenna dish).</a:t>
              </a:r>
            </a:p>
            <a:p>
              <a:pPr algn="ctr">
                <a:lnSpc>
                  <a:spcPts val="2659"/>
                </a:lnSpc>
              </a:pPr>
            </a:p>
            <a:p>
              <a:pPr algn="ctr">
                <a:lnSpc>
                  <a:spcPts val="2659"/>
                </a:lnSpc>
              </a:pPr>
            </a:p>
            <a:p>
              <a:pPr algn="ctr">
                <a:lnSpc>
                  <a:spcPts val="2659"/>
                </a:lnSpc>
              </a:pPr>
              <a:r>
                <a:rPr lang="en-US" sz="1899">
                  <a:solidFill>
                    <a:srgbClr val="000000"/>
                  </a:solidFill>
                  <a:latin typeface="Arimo"/>
                  <a:ea typeface="Arimo"/>
                  <a:cs typeface="Arimo"/>
                  <a:sym typeface="Arimo"/>
                </a:rPr>
                <a:t>2. Sinyal dipancarkan secara terarah menuju antena penerima.</a:t>
              </a:r>
            </a:p>
            <a:p>
              <a:pPr algn="ctr">
                <a:lnSpc>
                  <a:spcPts val="2659"/>
                </a:lnSpc>
              </a:pPr>
            </a:p>
            <a:p>
              <a:pPr algn="ctr">
                <a:lnSpc>
                  <a:spcPts val="2659"/>
                </a:lnSpc>
              </a:pPr>
            </a:p>
            <a:p>
              <a:pPr algn="ctr">
                <a:lnSpc>
                  <a:spcPts val="2659"/>
                </a:lnSpc>
              </a:pPr>
              <a:r>
                <a:rPr lang="en-US" sz="1899">
                  <a:solidFill>
                    <a:srgbClr val="000000"/>
                  </a:solidFill>
                  <a:latin typeface="Arimo"/>
                  <a:ea typeface="Arimo"/>
                  <a:cs typeface="Arimo"/>
                  <a:sym typeface="Arimo"/>
                </a:rPr>
                <a:t>3. Antena penerima menerima sinyal dan meneruskannya ke perangkat jaringan tujuan.</a:t>
              </a:r>
            </a:p>
            <a:p>
              <a:pPr algn="ctr">
                <a:lnSpc>
                  <a:spcPts val="2659"/>
                </a:lnSpc>
              </a:pPr>
            </a:p>
            <a:p>
              <a:pPr algn="ctr">
                <a:lnSpc>
                  <a:spcPts val="2659"/>
                </a:lnSpc>
              </a:pPr>
            </a:p>
            <a:p>
              <a:pPr algn="ctr">
                <a:lnSpc>
                  <a:spcPts val="2659"/>
                </a:lnSpc>
              </a:pPr>
            </a:p>
            <a:p>
              <a:pPr algn="ctr">
                <a:lnSpc>
                  <a:spcPts val="2659"/>
                </a:lnSpc>
              </a:pPr>
            </a:p>
            <a:p>
              <a:pPr algn="ctr">
                <a:lnSpc>
                  <a:spcPts val="2659"/>
                </a:lnSpc>
              </a:pPr>
              <a:r>
                <a:rPr lang="en-US" sz="1899">
                  <a:solidFill>
                    <a:srgbClr val="000000"/>
                  </a:solidFill>
                  <a:latin typeface="Arimo"/>
                  <a:ea typeface="Arimo"/>
                  <a:cs typeface="Arimo"/>
                  <a:sym typeface="Arimo"/>
                </a:rPr>
                <a:t>---</a:t>
              </a:r>
            </a:p>
            <a:p>
              <a:pPr algn="ctr">
                <a:lnSpc>
                  <a:spcPts val="2659"/>
                </a:lnSpc>
              </a:pPr>
            </a:p>
            <a:p>
              <a:pPr algn="ctr">
                <a:lnSpc>
                  <a:spcPts val="2659"/>
                </a:lnSpc>
              </a:pPr>
              <a:r>
                <a:rPr lang="en-US" sz="1899">
                  <a:solidFill>
                    <a:srgbClr val="000000"/>
                  </a:solidFill>
                  <a:latin typeface="Arimo"/>
                  <a:ea typeface="Arimo"/>
                  <a:cs typeface="Arimo"/>
                  <a:sym typeface="Arimo"/>
                </a:rPr>
                <a:t>Kelebihan</a:t>
              </a:r>
            </a:p>
            <a:p>
              <a:pPr algn="ctr">
                <a:lnSpc>
                  <a:spcPts val="2659"/>
                </a:lnSpc>
              </a:pPr>
            </a:p>
            <a:p>
              <a:pPr algn="ctr">
                <a:lnSpc>
                  <a:spcPts val="2659"/>
                </a:lnSpc>
              </a:pPr>
              <a:r>
                <a:rPr lang="en-US" sz="1899">
                  <a:solidFill>
                    <a:srgbClr val="000000"/>
                  </a:solidFill>
                  <a:latin typeface="Arimo"/>
                  <a:ea typeface="Arimo"/>
                  <a:cs typeface="Arimo"/>
                  <a:sym typeface="Arimo"/>
                </a:rPr>
                <a:t>Kecepatan tinggi</a:t>
              </a:r>
            </a:p>
            <a:p>
              <a:pPr algn="ctr">
                <a:lnSpc>
                  <a:spcPts val="2659"/>
                </a:lnSpc>
              </a:pPr>
            </a:p>
            <a:p>
              <a:pPr algn="ctr">
                <a:lnSpc>
                  <a:spcPts val="2659"/>
                </a:lnSpc>
              </a:pPr>
              <a:r>
                <a:rPr lang="en-US" sz="1899">
                  <a:solidFill>
                    <a:srgbClr val="000000"/>
                  </a:solidFill>
                  <a:latin typeface="Arimo"/>
                  <a:ea typeface="Arimo"/>
                  <a:cs typeface="Arimo"/>
                  <a:sym typeface="Arimo"/>
                </a:rPr>
                <a:t>Cakupan jauh (puluhan km, tergantung ketinggian &amp; kondisi)</a:t>
              </a:r>
            </a:p>
            <a:p>
              <a:pPr algn="ctr">
                <a:lnSpc>
                  <a:spcPts val="2659"/>
                </a:lnSpc>
              </a:pPr>
            </a:p>
            <a:p>
              <a:pPr algn="ctr">
                <a:lnSpc>
                  <a:spcPts val="2659"/>
                </a:lnSpc>
              </a:pPr>
              <a:r>
                <a:rPr lang="en-US" sz="1899">
                  <a:solidFill>
                    <a:srgbClr val="000000"/>
                  </a:solidFill>
                  <a:latin typeface="Arimo"/>
                  <a:ea typeface="Arimo"/>
                  <a:cs typeface="Arimo"/>
                  <a:sym typeface="Arimo"/>
                </a:rPr>
                <a:t>Tidak butuh kabel (hemat biaya)</a:t>
              </a:r>
            </a:p>
            <a:p>
              <a:pPr algn="ctr">
                <a:lnSpc>
                  <a:spcPts val="2659"/>
                </a:lnSpc>
              </a:pPr>
            </a:p>
            <a:p>
              <a:pPr algn="ctr">
                <a:lnSpc>
                  <a:spcPts val="2659"/>
                </a:lnSpc>
              </a:pPr>
              <a:r>
                <a:rPr lang="en-US" sz="1899">
                  <a:solidFill>
                    <a:srgbClr val="000000"/>
                  </a:solidFill>
                  <a:latin typeface="Arimo"/>
                  <a:ea typeface="Arimo"/>
                  <a:cs typeface="Arimo"/>
                  <a:sym typeface="Arimo"/>
                </a:rPr>
                <a:t>Stabil untuk daerah sulit dijangkau fiber optic</a:t>
              </a:r>
            </a:p>
            <a:p>
              <a:pPr algn="ctr">
                <a:lnSpc>
                  <a:spcPts val="2659"/>
                </a:lnSpc>
              </a:pPr>
            </a:p>
            <a:p>
              <a:pPr algn="ctr">
                <a:lnSpc>
                  <a:spcPts val="2659"/>
                </a:lnSpc>
              </a:pPr>
            </a:p>
            <a:p>
              <a:pPr algn="ctr">
                <a:lnSpc>
                  <a:spcPts val="2659"/>
                </a:lnSpc>
              </a:pPr>
            </a:p>
            <a:p>
              <a:pPr algn="ctr">
                <a:lnSpc>
                  <a:spcPts val="2659"/>
                </a:lnSpc>
              </a:pPr>
              <a:r>
                <a:rPr lang="en-US" sz="1899">
                  <a:solidFill>
                    <a:srgbClr val="000000"/>
                  </a:solidFill>
                  <a:latin typeface="Arimo"/>
                  <a:ea typeface="Arimo"/>
                  <a:cs typeface="Arimo"/>
                  <a:sym typeface="Arimo"/>
                </a:rPr>
                <a:t>---</a:t>
              </a:r>
            </a:p>
            <a:p>
              <a:pPr algn="ctr">
                <a:lnSpc>
                  <a:spcPts val="2659"/>
                </a:lnSpc>
              </a:pPr>
            </a:p>
            <a:p>
              <a:pPr algn="ctr">
                <a:lnSpc>
                  <a:spcPts val="2659"/>
                </a:lnSpc>
              </a:pPr>
              <a:r>
                <a:rPr lang="en-US" sz="1899">
                  <a:solidFill>
                    <a:srgbClr val="000000"/>
                  </a:solidFill>
                  <a:latin typeface="Arimo"/>
                  <a:ea typeface="Arimo"/>
                  <a:cs typeface="Arimo"/>
                  <a:sym typeface="Arimo"/>
                </a:rPr>
                <a:t>Kekurangan</a:t>
              </a:r>
            </a:p>
            <a:p>
              <a:pPr algn="ctr">
                <a:lnSpc>
                  <a:spcPts val="2659"/>
                </a:lnSpc>
              </a:pPr>
            </a:p>
            <a:p>
              <a:pPr algn="ctr">
                <a:lnSpc>
                  <a:spcPts val="2659"/>
                </a:lnSpc>
              </a:pPr>
              <a:r>
                <a:rPr lang="en-US" sz="1899">
                  <a:solidFill>
                    <a:srgbClr val="000000"/>
                  </a:solidFill>
                  <a:latin typeface="Arimo"/>
                  <a:ea typeface="Arimo"/>
                  <a:cs typeface="Arimo"/>
                  <a:sym typeface="Arimo"/>
                </a:rPr>
                <a:t>Harus Line of Sight (tidak boleh terhalang gedung, bukit, pohon)</a:t>
              </a:r>
            </a:p>
            <a:p>
              <a:pPr algn="ctr">
                <a:lnSpc>
                  <a:spcPts val="2659"/>
                </a:lnSpc>
              </a:pPr>
            </a:p>
            <a:p>
              <a:pPr algn="ctr">
                <a:lnSpc>
                  <a:spcPts val="2659"/>
                </a:lnSpc>
              </a:pPr>
              <a:r>
                <a:rPr lang="en-US" sz="1899">
                  <a:solidFill>
                    <a:srgbClr val="000000"/>
                  </a:solidFill>
                  <a:latin typeface="Arimo"/>
                  <a:ea typeface="Arimo"/>
                  <a:cs typeface="Arimo"/>
                  <a:sym typeface="Arimo"/>
                </a:rPr>
                <a:t>Terpengaruh cuaca (hujan, kabut)</a:t>
              </a:r>
            </a:p>
            <a:p>
              <a:pPr algn="ctr">
                <a:lnSpc>
                  <a:spcPts val="2659"/>
                </a:lnSpc>
              </a:pPr>
            </a:p>
            <a:p>
              <a:pPr algn="ctr">
                <a:lnSpc>
                  <a:spcPts val="2659"/>
                </a:lnSpc>
              </a:pPr>
              <a:r>
                <a:rPr lang="en-US" sz="1899">
                  <a:solidFill>
                    <a:srgbClr val="000000"/>
                  </a:solidFill>
                  <a:latin typeface="Arimo"/>
                  <a:ea typeface="Arimo"/>
                  <a:cs typeface="Arimo"/>
                  <a:sym typeface="Arimo"/>
                </a:rPr>
                <a:t>Butuh instalasi antena yang presisi</a:t>
              </a:r>
            </a:p>
            <a:p>
              <a:pPr algn="ctr">
                <a:lnSpc>
                  <a:spcPts val="2659"/>
                </a:lnSpc>
              </a:pPr>
            </a:p>
            <a:p>
              <a:pPr algn="ctr">
                <a:lnSpc>
                  <a:spcPts val="2659"/>
                </a:lnSpc>
              </a:pPr>
            </a:p>
            <a:p>
              <a:pPr algn="ctr">
                <a:lnSpc>
                  <a:spcPts val="2659"/>
                </a:lnSpc>
              </a:pPr>
            </a:p>
            <a:p>
              <a:pPr algn="ctr">
                <a:lnSpc>
                  <a:spcPts val="2659"/>
                </a:lnSpc>
              </a:pPr>
              <a:r>
                <a:rPr lang="en-US" sz="1899">
                  <a:solidFill>
                    <a:srgbClr val="000000"/>
                  </a:solidFill>
                  <a:latin typeface="Arimo"/>
                  <a:ea typeface="Arimo"/>
                  <a:cs typeface="Arimo"/>
                  <a:sym typeface="Arimo"/>
                </a:rPr>
                <a:t>---</a:t>
              </a:r>
            </a:p>
            <a:p>
              <a:pPr algn="ctr">
                <a:lnSpc>
                  <a:spcPts val="2659"/>
                </a:lnSpc>
              </a:pPr>
            </a:p>
            <a:p>
              <a:pPr algn="ctr">
                <a:lnSpc>
                  <a:spcPts val="2659"/>
                </a:lnSpc>
              </a:pPr>
              <a:r>
                <a:rPr lang="en-US" sz="1899">
                  <a:solidFill>
                    <a:srgbClr val="000000"/>
                  </a:solidFill>
                  <a:latin typeface="Arimo"/>
                  <a:ea typeface="Arimo"/>
                  <a:cs typeface="Arimo"/>
                  <a:sym typeface="Arimo"/>
                </a:rPr>
                <a:t>Contoh Penggunaannya</a:t>
              </a:r>
            </a:p>
            <a:p>
              <a:pPr algn="ctr">
                <a:lnSpc>
                  <a:spcPts val="2659"/>
                </a:lnSpc>
              </a:pPr>
            </a:p>
            <a:p>
              <a:pPr algn="ctr">
                <a:lnSpc>
                  <a:spcPts val="2659"/>
                </a:lnSpc>
              </a:pPr>
              <a:r>
                <a:rPr lang="en-US" sz="1899">
                  <a:solidFill>
                    <a:srgbClr val="000000"/>
                  </a:solidFill>
                  <a:latin typeface="Arimo"/>
                  <a:ea typeface="Arimo"/>
                  <a:cs typeface="Arimo"/>
                  <a:sym typeface="Arimo"/>
                </a:rPr>
                <a:t>BTS (tower) antaroperator seluler</a:t>
              </a:r>
            </a:p>
            <a:p>
              <a:pPr algn="ctr">
                <a:lnSpc>
                  <a:spcPts val="2659"/>
                </a:lnSpc>
              </a:pPr>
            </a:p>
            <a:p>
              <a:pPr algn="ctr">
                <a:lnSpc>
                  <a:spcPts val="2659"/>
                </a:lnSpc>
              </a:pPr>
              <a:r>
                <a:rPr lang="en-US" sz="1899">
                  <a:solidFill>
                    <a:srgbClr val="000000"/>
                  </a:solidFill>
                  <a:latin typeface="Arimo"/>
                  <a:ea typeface="Arimo"/>
                  <a:cs typeface="Arimo"/>
                  <a:sym typeface="Arimo"/>
                </a:rPr>
                <a:t>Jaringan antar gedung kantor</a:t>
              </a:r>
            </a:p>
            <a:p>
              <a:pPr algn="ctr">
                <a:lnSpc>
                  <a:spcPts val="2659"/>
                </a:lnSpc>
              </a:pPr>
            </a:p>
            <a:p>
              <a:pPr algn="ctr">
                <a:lnSpc>
                  <a:spcPts val="2659"/>
                </a:lnSpc>
              </a:pPr>
              <a:r>
                <a:rPr lang="en-US" sz="1899">
                  <a:solidFill>
                    <a:srgbClr val="000000"/>
                  </a:solidFill>
                  <a:latin typeface="Arimo"/>
                  <a:ea typeface="Arimo"/>
                  <a:cs typeface="Arimo"/>
                  <a:sym typeface="Arimo"/>
                </a:rPr>
                <a:t>Internet ke daerah pedesaan atau pulau</a:t>
              </a:r>
            </a:p>
            <a:p>
              <a:pPr algn="ctr">
                <a:lnSpc>
                  <a:spcPts val="2659"/>
                </a:lnSpc>
              </a:pPr>
            </a:p>
            <a:p>
              <a:pPr algn="ctr">
                <a:lnSpc>
                  <a:spcPts val="2659"/>
                </a:lnSpc>
              </a:pPr>
              <a:r>
                <a:rPr lang="en-US" sz="1899">
                  <a:solidFill>
                    <a:srgbClr val="000000"/>
                  </a:solidFill>
                  <a:latin typeface="Arimo"/>
                  <a:ea typeface="Arimo"/>
                  <a:cs typeface="Arimo"/>
                  <a:sym typeface="Arimo"/>
                </a:rPr>
                <a:t>Sistem CCTV jarak jauh</a:t>
              </a:r>
            </a:p>
            <a:p>
              <a:pPr algn="ctr">
                <a:lnSpc>
                  <a:spcPts val="2659"/>
                </a:lnSpc>
              </a:pPr>
            </a:p>
            <a:p>
              <a:pPr algn="ctr">
                <a:lnSpc>
                  <a:spcPts val="2659"/>
                </a:lnSpc>
              </a:pPr>
            </a:p>
            <a:p>
              <a:pPr algn="ctr">
                <a:lnSpc>
                  <a:spcPts val="2659"/>
                </a:lnSpc>
              </a:pPr>
            </a:p>
            <a:p>
              <a:pPr algn="ctr">
                <a:lnSpc>
                  <a:spcPts val="2659"/>
                </a:lnSpc>
              </a:pPr>
              <a:r>
                <a:rPr lang="en-US" sz="1899">
                  <a:solidFill>
                    <a:srgbClr val="000000"/>
                  </a:solidFill>
                  <a:latin typeface="Arimo"/>
                  <a:ea typeface="Arimo"/>
                  <a:cs typeface="Arimo"/>
                  <a:sym typeface="Arimo"/>
                </a:rPr>
                <a:t>---</a:t>
              </a:r>
            </a:p>
            <a:p>
              <a:pPr algn="ctr">
                <a:lnSpc>
                  <a:spcPts val="2659"/>
                </a:lnSpc>
              </a:pPr>
            </a:p>
            <a:p>
              <a:pPr algn="ctr">
                <a:lnSpc>
                  <a:spcPts val="2659"/>
                </a:lnSpc>
              </a:pPr>
              <a:r>
                <a:rPr lang="en-US" sz="1899">
                  <a:solidFill>
                    <a:srgbClr val="000000"/>
                  </a:solidFill>
                  <a:latin typeface="Arimo"/>
                  <a:ea typeface="Arimo"/>
                  <a:cs typeface="Arimo"/>
                  <a:sym typeface="Arimo"/>
                </a:rPr>
                <a:t>Jika kamu mau, saya bisa buatkan:</a:t>
              </a:r>
            </a:p>
            <a:p>
              <a:pPr algn="ctr">
                <a:lnSpc>
                  <a:spcPts val="2659"/>
                </a:lnSpc>
              </a:pPr>
            </a:p>
            <a:p>
              <a:pPr algn="ctr">
                <a:lnSpc>
                  <a:spcPts val="2659"/>
                </a:lnSpc>
              </a:pPr>
              <a:r>
                <a:rPr lang="en-US" sz="1899">
                  <a:solidFill>
                    <a:srgbClr val="000000"/>
                  </a:solidFill>
                  <a:latin typeface="Arimo"/>
                  <a:ea typeface="Arimo"/>
                  <a:cs typeface="Arimo"/>
                  <a:sym typeface="Arimo"/>
                </a:rPr>
                <a:t>Gambar/diagram microwave link</a:t>
              </a:r>
            </a:p>
            <a:p>
              <a:pPr algn="ctr">
                <a:lnSpc>
                  <a:spcPts val="2659"/>
                </a:lnSpc>
              </a:pPr>
            </a:p>
            <a:p>
              <a:pPr algn="ctr">
                <a:lnSpc>
                  <a:spcPts val="2659"/>
                </a:lnSpc>
              </a:pPr>
              <a:r>
                <a:rPr lang="en-US" sz="1899">
                  <a:solidFill>
                    <a:srgbClr val="000000"/>
                  </a:solidFill>
                  <a:latin typeface="Arimo"/>
                  <a:ea typeface="Arimo"/>
                  <a:cs typeface="Arimo"/>
                  <a:sym typeface="Arimo"/>
                </a:rPr>
                <a:t>Contoh soal</a:t>
              </a:r>
            </a:p>
            <a:p>
              <a:pPr algn="ctr">
                <a:lnSpc>
                  <a:spcPts val="2659"/>
                </a:lnSpc>
              </a:pPr>
            </a:p>
            <a:p>
              <a:pPr algn="ctr">
                <a:lnSpc>
                  <a:spcPts val="2659"/>
                </a:lnSpc>
              </a:pPr>
              <a:r>
                <a:rPr lang="en-US" sz="1899">
                  <a:solidFill>
                    <a:srgbClr val="000000"/>
                  </a:solidFill>
                  <a:latin typeface="Arimo"/>
                  <a:ea typeface="Arimo"/>
                  <a:cs typeface="Arimo"/>
                  <a:sym typeface="Arimo"/>
                </a:rPr>
                <a:t>Penjelasan lebih lengkap (frekuensi, jenis antena, perhitungan jarak LOS)</a:t>
              </a:r>
            </a:p>
          </p:txBody>
        </p:sp>
      </p:grpSp>
      <p:sp>
        <p:nvSpPr>
          <p:cNvPr name="TextBox 14" id="14"/>
          <p:cNvSpPr txBox="true"/>
          <p:nvPr/>
        </p:nvSpPr>
        <p:spPr>
          <a:xfrm rot="0">
            <a:off x="9434652" y="3694760"/>
            <a:ext cx="956298" cy="914358"/>
          </a:xfrm>
          <a:prstGeom prst="rect">
            <a:avLst/>
          </a:prstGeom>
        </p:spPr>
        <p:txBody>
          <a:bodyPr anchor="t" rtlCol="false" tIns="0" lIns="0" bIns="0" rIns="0">
            <a:spAutoFit/>
          </a:bodyPr>
          <a:lstStyle/>
          <a:p>
            <a:pPr algn="ctr">
              <a:lnSpc>
                <a:spcPts val="6696"/>
              </a:lnSpc>
            </a:pPr>
            <a:r>
              <a:rPr lang="en-US" sz="7524">
                <a:solidFill>
                  <a:srgbClr val="000000"/>
                </a:solidFill>
                <a:latin typeface="Caveat Brush"/>
                <a:ea typeface="Caveat Brush"/>
                <a:cs typeface="Caveat Brush"/>
                <a:sym typeface="Caveat Brush"/>
              </a:rPr>
              <a:t>2</a:t>
            </a:r>
          </a:p>
        </p:txBody>
      </p:sp>
      <p:sp>
        <p:nvSpPr>
          <p:cNvPr name="Freeform 15" id="15"/>
          <p:cNvSpPr/>
          <p:nvPr/>
        </p:nvSpPr>
        <p:spPr>
          <a:xfrm flipH="false" flipV="false" rot="0">
            <a:off x="285550" y="6517777"/>
            <a:ext cx="1989021" cy="4097234"/>
          </a:xfrm>
          <a:custGeom>
            <a:avLst/>
            <a:gdLst/>
            <a:ahLst/>
            <a:cxnLst/>
            <a:rect r="r" b="b" t="t" l="l"/>
            <a:pathLst>
              <a:path h="4097234" w="1989021">
                <a:moveTo>
                  <a:pt x="0" y="0"/>
                </a:moveTo>
                <a:lnTo>
                  <a:pt x="1989021" y="0"/>
                </a:lnTo>
                <a:lnTo>
                  <a:pt x="1989021" y="4097234"/>
                </a:lnTo>
                <a:lnTo>
                  <a:pt x="0" y="40972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6063919" y="3335873"/>
            <a:ext cx="2445085" cy="2267261"/>
          </a:xfrm>
          <a:custGeom>
            <a:avLst/>
            <a:gdLst/>
            <a:ahLst/>
            <a:cxnLst/>
            <a:rect r="r" b="b" t="t" l="l"/>
            <a:pathLst>
              <a:path h="2267261" w="2445085">
                <a:moveTo>
                  <a:pt x="0" y="0"/>
                </a:moveTo>
                <a:lnTo>
                  <a:pt x="2445085" y="0"/>
                </a:lnTo>
                <a:lnTo>
                  <a:pt x="2445085" y="2267261"/>
                </a:lnTo>
                <a:lnTo>
                  <a:pt x="0" y="22672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1833824">
            <a:off x="16760636" y="1627564"/>
            <a:ext cx="1669203" cy="1789594"/>
          </a:xfrm>
          <a:custGeom>
            <a:avLst/>
            <a:gdLst/>
            <a:ahLst/>
            <a:cxnLst/>
            <a:rect r="r" b="b" t="t" l="l"/>
            <a:pathLst>
              <a:path h="1789594" w="1669203">
                <a:moveTo>
                  <a:pt x="0" y="0"/>
                </a:moveTo>
                <a:lnTo>
                  <a:pt x="1669203" y="0"/>
                </a:lnTo>
                <a:lnTo>
                  <a:pt x="1669203" y="1789594"/>
                </a:lnTo>
                <a:lnTo>
                  <a:pt x="0" y="17895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8" id="18"/>
          <p:cNvSpPr txBox="true"/>
          <p:nvPr/>
        </p:nvSpPr>
        <p:spPr>
          <a:xfrm rot="0">
            <a:off x="3533850" y="1276350"/>
            <a:ext cx="10804878" cy="1878676"/>
          </a:xfrm>
          <a:prstGeom prst="rect">
            <a:avLst/>
          </a:prstGeom>
        </p:spPr>
        <p:txBody>
          <a:bodyPr anchor="t" rtlCol="false" tIns="0" lIns="0" bIns="0" rIns="0">
            <a:spAutoFit/>
          </a:bodyPr>
          <a:lstStyle/>
          <a:p>
            <a:pPr algn="ctr">
              <a:lnSpc>
                <a:spcPts val="7156"/>
              </a:lnSpc>
            </a:pPr>
            <a:r>
              <a:rPr lang="en-US" sz="8041">
                <a:solidFill>
                  <a:srgbClr val="000000"/>
                </a:solidFill>
                <a:latin typeface="Caveat Brush"/>
                <a:ea typeface="Caveat Brush"/>
                <a:cs typeface="Caveat Brush"/>
                <a:sym typeface="Caveat Brush"/>
              </a:rPr>
              <a:t>KOMPONEN-KOMPONEN MICROWAVE LINK</a:t>
            </a:r>
          </a:p>
        </p:txBody>
      </p:sp>
      <p:sp>
        <p:nvSpPr>
          <p:cNvPr name="Freeform 19" id="19"/>
          <p:cNvSpPr/>
          <p:nvPr/>
        </p:nvSpPr>
        <p:spPr>
          <a:xfrm flipH="true" flipV="true" rot="-1833824">
            <a:off x="792269" y="4963592"/>
            <a:ext cx="1669203" cy="1789594"/>
          </a:xfrm>
          <a:custGeom>
            <a:avLst/>
            <a:gdLst/>
            <a:ahLst/>
            <a:cxnLst/>
            <a:rect r="r" b="b" t="t" l="l"/>
            <a:pathLst>
              <a:path h="1789594" w="1669203">
                <a:moveTo>
                  <a:pt x="1669203" y="1789594"/>
                </a:moveTo>
                <a:lnTo>
                  <a:pt x="0" y="1789594"/>
                </a:lnTo>
                <a:lnTo>
                  <a:pt x="0" y="0"/>
                </a:lnTo>
                <a:lnTo>
                  <a:pt x="1669203" y="0"/>
                </a:lnTo>
                <a:lnTo>
                  <a:pt x="1669203" y="178959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1310489">
            <a:off x="16685886" y="5802165"/>
            <a:ext cx="1457621" cy="2009252"/>
          </a:xfrm>
          <a:custGeom>
            <a:avLst/>
            <a:gdLst/>
            <a:ahLst/>
            <a:cxnLst/>
            <a:rect r="r" b="b" t="t" l="l"/>
            <a:pathLst>
              <a:path h="2009252" w="1457621">
                <a:moveTo>
                  <a:pt x="0" y="0"/>
                </a:moveTo>
                <a:lnTo>
                  <a:pt x="1457620" y="0"/>
                </a:lnTo>
                <a:lnTo>
                  <a:pt x="1457620" y="2009252"/>
                </a:lnTo>
                <a:lnTo>
                  <a:pt x="0" y="20092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1" id="21"/>
          <p:cNvSpPr txBox="true"/>
          <p:nvPr/>
        </p:nvSpPr>
        <p:spPr>
          <a:xfrm rot="0">
            <a:off x="4919972" y="4418936"/>
            <a:ext cx="1662040" cy="3327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Arimo"/>
                <a:ea typeface="Arimo"/>
                <a:cs typeface="Arimo"/>
                <a:sym typeface="Arimo"/>
              </a:rPr>
              <a:t>Unit luar (ODU)</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D304E"/>
        </a:solidFill>
      </p:bgPr>
    </p:bg>
    <p:spTree>
      <p:nvGrpSpPr>
        <p:cNvPr id="1" name=""/>
        <p:cNvGrpSpPr/>
        <p:nvPr/>
      </p:nvGrpSpPr>
      <p:grpSpPr>
        <a:xfrm>
          <a:off x="0" y="0"/>
          <a:ext cx="0" cy="0"/>
          <a:chOff x="0" y="0"/>
          <a:chExt cx="0" cy="0"/>
        </a:xfrm>
      </p:grpSpPr>
      <p:grpSp>
        <p:nvGrpSpPr>
          <p:cNvPr name="Group 2" id="2"/>
          <p:cNvGrpSpPr/>
          <p:nvPr/>
        </p:nvGrpSpPr>
        <p:grpSpPr>
          <a:xfrm rot="0">
            <a:off x="1148825" y="896433"/>
            <a:ext cx="15990349" cy="8494135"/>
            <a:chOff x="0" y="0"/>
            <a:chExt cx="4211450" cy="2237138"/>
          </a:xfrm>
        </p:grpSpPr>
        <p:sp>
          <p:nvSpPr>
            <p:cNvPr name="Freeform 3" id="3"/>
            <p:cNvSpPr/>
            <p:nvPr/>
          </p:nvSpPr>
          <p:spPr>
            <a:xfrm flipH="false" flipV="false" rot="0">
              <a:off x="0" y="0"/>
              <a:ext cx="4211450" cy="2237138"/>
            </a:xfrm>
            <a:custGeom>
              <a:avLst/>
              <a:gdLst/>
              <a:ahLst/>
              <a:cxnLst/>
              <a:rect r="r" b="b" t="t" l="l"/>
              <a:pathLst>
                <a:path h="2237138" w="4211450">
                  <a:moveTo>
                    <a:pt x="17914" y="0"/>
                  </a:moveTo>
                  <a:lnTo>
                    <a:pt x="4193536" y="0"/>
                  </a:lnTo>
                  <a:cubicBezTo>
                    <a:pt x="4203429" y="0"/>
                    <a:pt x="4211450" y="8020"/>
                    <a:pt x="4211450" y="17914"/>
                  </a:cubicBezTo>
                  <a:lnTo>
                    <a:pt x="4211450" y="2219224"/>
                  </a:lnTo>
                  <a:cubicBezTo>
                    <a:pt x="4211450" y="2223975"/>
                    <a:pt x="4209562" y="2228532"/>
                    <a:pt x="4206203" y="2231891"/>
                  </a:cubicBezTo>
                  <a:cubicBezTo>
                    <a:pt x="4202843" y="2235251"/>
                    <a:pt x="4198287" y="2237138"/>
                    <a:pt x="4193536" y="2237138"/>
                  </a:cubicBezTo>
                  <a:lnTo>
                    <a:pt x="17914" y="2237138"/>
                  </a:lnTo>
                  <a:cubicBezTo>
                    <a:pt x="8020" y="2237138"/>
                    <a:pt x="0" y="2229118"/>
                    <a:pt x="0" y="2219224"/>
                  </a:cubicBezTo>
                  <a:lnTo>
                    <a:pt x="0" y="17914"/>
                  </a:lnTo>
                  <a:cubicBezTo>
                    <a:pt x="0" y="8020"/>
                    <a:pt x="8020" y="0"/>
                    <a:pt x="17914" y="0"/>
                  </a:cubicBezTo>
                  <a:close/>
                </a:path>
              </a:pathLst>
            </a:custGeom>
            <a:solidFill>
              <a:srgbClr val="F8F4E4"/>
            </a:solidFill>
          </p:spPr>
        </p:sp>
        <p:sp>
          <p:nvSpPr>
            <p:cNvPr name="TextBox 4" id="4"/>
            <p:cNvSpPr txBox="true"/>
            <p:nvPr/>
          </p:nvSpPr>
          <p:spPr>
            <a:xfrm>
              <a:off x="0" y="-47625"/>
              <a:ext cx="4211450" cy="2284763"/>
            </a:xfrm>
            <a:prstGeom prst="rect">
              <a:avLst/>
            </a:prstGeom>
          </p:spPr>
          <p:txBody>
            <a:bodyPr anchor="ctr" rtlCol="false" tIns="50800" lIns="50800" bIns="50800" rIns="50800"/>
            <a:lstStyle/>
            <a:p>
              <a:pPr algn="ctr">
                <a:lnSpc>
                  <a:spcPts val="2659"/>
                </a:lnSpc>
              </a:pPr>
              <a:r>
                <a:rPr lang="en-US" sz="1899">
                  <a:solidFill>
                    <a:srgbClr val="000000"/>
                  </a:solidFill>
                  <a:latin typeface="Arimo"/>
                  <a:ea typeface="Arimo"/>
                  <a:cs typeface="Arimo"/>
                  <a:sym typeface="Arimo"/>
                </a:rPr>
                <a:t>BTS (tower) antaroperator seluler</a:t>
              </a:r>
            </a:p>
            <a:p>
              <a:pPr algn="ctr">
                <a:lnSpc>
                  <a:spcPts val="2659"/>
                </a:lnSpc>
              </a:pPr>
            </a:p>
            <a:p>
              <a:pPr algn="ctr">
                <a:lnSpc>
                  <a:spcPts val="2659"/>
                </a:lnSpc>
              </a:pPr>
              <a:r>
                <a:rPr lang="en-US" sz="1899">
                  <a:solidFill>
                    <a:srgbClr val="000000"/>
                  </a:solidFill>
                  <a:latin typeface="Arimo"/>
                  <a:ea typeface="Arimo"/>
                  <a:cs typeface="Arimo"/>
                  <a:sym typeface="Arimo"/>
                </a:rPr>
                <a:t>Jaringan antar gedung kantor</a:t>
              </a:r>
            </a:p>
            <a:p>
              <a:pPr algn="ctr">
                <a:lnSpc>
                  <a:spcPts val="2659"/>
                </a:lnSpc>
              </a:pPr>
            </a:p>
            <a:p>
              <a:pPr algn="ctr">
                <a:lnSpc>
                  <a:spcPts val="2659"/>
                </a:lnSpc>
              </a:pPr>
              <a:r>
                <a:rPr lang="en-US" sz="1899">
                  <a:solidFill>
                    <a:srgbClr val="000000"/>
                  </a:solidFill>
                  <a:latin typeface="Arimo"/>
                  <a:ea typeface="Arimo"/>
                  <a:cs typeface="Arimo"/>
                  <a:sym typeface="Arimo"/>
                </a:rPr>
                <a:t>Internet ke daerah pedesaan atau pulau</a:t>
              </a:r>
            </a:p>
            <a:p>
              <a:pPr algn="ctr">
                <a:lnSpc>
                  <a:spcPts val="2659"/>
                </a:lnSpc>
              </a:pPr>
            </a:p>
            <a:p>
              <a:pPr algn="ctr">
                <a:lnSpc>
                  <a:spcPts val="2659"/>
                </a:lnSpc>
              </a:pPr>
              <a:r>
                <a:rPr lang="en-US" sz="1899">
                  <a:solidFill>
                    <a:srgbClr val="000000"/>
                  </a:solidFill>
                  <a:latin typeface="Arimo"/>
                  <a:ea typeface="Arimo"/>
                  <a:cs typeface="Arimo"/>
                  <a:sym typeface="Arimo"/>
                </a:rPr>
                <a:t>Sistem CCTV jarak</a:t>
              </a:r>
            </a:p>
          </p:txBody>
        </p:sp>
      </p:grpSp>
      <p:sp>
        <p:nvSpPr>
          <p:cNvPr name="Freeform 5" id="5"/>
          <p:cNvSpPr/>
          <p:nvPr/>
        </p:nvSpPr>
        <p:spPr>
          <a:xfrm flipH="false" flipV="false" rot="0">
            <a:off x="3741561" y="9111090"/>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892703" y="8523136"/>
            <a:ext cx="1021972" cy="1175910"/>
          </a:xfrm>
          <a:custGeom>
            <a:avLst/>
            <a:gdLst/>
            <a:ahLst/>
            <a:cxnLst/>
            <a:rect r="r" b="b" t="t" l="l"/>
            <a:pathLst>
              <a:path h="1175910" w="1021972">
                <a:moveTo>
                  <a:pt x="0" y="0"/>
                </a:moveTo>
                <a:lnTo>
                  <a:pt x="1021972" y="0"/>
                </a:lnTo>
                <a:lnTo>
                  <a:pt x="1021972" y="1175909"/>
                </a:lnTo>
                <a:lnTo>
                  <a:pt x="0" y="11759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83137" y="1028700"/>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4546439" y="403245"/>
            <a:ext cx="857250" cy="986376"/>
          </a:xfrm>
          <a:custGeom>
            <a:avLst/>
            <a:gdLst/>
            <a:ahLst/>
            <a:cxnLst/>
            <a:rect r="r" b="b" t="t" l="l"/>
            <a:pathLst>
              <a:path h="986376" w="857250">
                <a:moveTo>
                  <a:pt x="0" y="0"/>
                </a:moveTo>
                <a:lnTo>
                  <a:pt x="857250" y="0"/>
                </a:lnTo>
                <a:lnTo>
                  <a:pt x="857250" y="986376"/>
                </a:lnTo>
                <a:lnTo>
                  <a:pt x="0" y="9863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46230">
            <a:off x="268463" y="4886246"/>
            <a:ext cx="2082861" cy="2277482"/>
          </a:xfrm>
          <a:custGeom>
            <a:avLst/>
            <a:gdLst/>
            <a:ahLst/>
            <a:cxnLst/>
            <a:rect r="r" b="b" t="t" l="l"/>
            <a:pathLst>
              <a:path h="2277482" w="2082861">
                <a:moveTo>
                  <a:pt x="0" y="0"/>
                </a:moveTo>
                <a:lnTo>
                  <a:pt x="2082861" y="0"/>
                </a:lnTo>
                <a:lnTo>
                  <a:pt x="2082861" y="2277482"/>
                </a:lnTo>
                <a:lnTo>
                  <a:pt x="0" y="22774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146230">
            <a:off x="615747" y="7459640"/>
            <a:ext cx="1632217" cy="2205698"/>
          </a:xfrm>
          <a:custGeom>
            <a:avLst/>
            <a:gdLst/>
            <a:ahLst/>
            <a:cxnLst/>
            <a:rect r="r" b="b" t="t" l="l"/>
            <a:pathLst>
              <a:path h="2205698" w="1632217">
                <a:moveTo>
                  <a:pt x="0" y="0"/>
                </a:moveTo>
                <a:lnTo>
                  <a:pt x="1632216" y="0"/>
                </a:lnTo>
                <a:lnTo>
                  <a:pt x="1632216" y="2205699"/>
                </a:lnTo>
                <a:lnTo>
                  <a:pt x="0" y="22056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6264496">
            <a:off x="466566" y="3317501"/>
            <a:ext cx="1686656" cy="1904848"/>
          </a:xfrm>
          <a:custGeom>
            <a:avLst/>
            <a:gdLst/>
            <a:ahLst/>
            <a:cxnLst/>
            <a:rect r="r" b="b" t="t" l="l"/>
            <a:pathLst>
              <a:path h="1904848" w="1686656">
                <a:moveTo>
                  <a:pt x="0" y="0"/>
                </a:moveTo>
                <a:lnTo>
                  <a:pt x="1686656" y="0"/>
                </a:lnTo>
                <a:lnTo>
                  <a:pt x="1686656" y="1904848"/>
                </a:lnTo>
                <a:lnTo>
                  <a:pt x="0" y="190484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3741561" y="1817933"/>
            <a:ext cx="10804878" cy="1000723"/>
          </a:xfrm>
          <a:prstGeom prst="rect">
            <a:avLst/>
          </a:prstGeom>
        </p:spPr>
        <p:txBody>
          <a:bodyPr anchor="t" rtlCol="false" tIns="0" lIns="0" bIns="0" rIns="0">
            <a:spAutoFit/>
          </a:bodyPr>
          <a:lstStyle/>
          <a:p>
            <a:pPr algn="ctr">
              <a:lnSpc>
                <a:spcPts val="7334"/>
              </a:lnSpc>
            </a:pPr>
            <a:r>
              <a:rPr lang="en-US" sz="8241">
                <a:solidFill>
                  <a:srgbClr val="000000"/>
                </a:solidFill>
                <a:latin typeface="Caveat Brush"/>
                <a:ea typeface="Caveat Brush"/>
                <a:cs typeface="Caveat Brush"/>
                <a:sym typeface="Caveat Brush"/>
              </a:rPr>
              <a:t>CONTOH MICROWAVE LINK</a:t>
            </a:r>
          </a:p>
        </p:txBody>
      </p:sp>
      <p:sp>
        <p:nvSpPr>
          <p:cNvPr name="Freeform 13" id="13"/>
          <p:cNvSpPr/>
          <p:nvPr/>
        </p:nvSpPr>
        <p:spPr>
          <a:xfrm flipH="false" flipV="false" rot="146230">
            <a:off x="16157658" y="2091317"/>
            <a:ext cx="2082861" cy="2277482"/>
          </a:xfrm>
          <a:custGeom>
            <a:avLst/>
            <a:gdLst/>
            <a:ahLst/>
            <a:cxnLst/>
            <a:rect r="r" b="b" t="t" l="l"/>
            <a:pathLst>
              <a:path h="2277482" w="2082861">
                <a:moveTo>
                  <a:pt x="0" y="0"/>
                </a:moveTo>
                <a:lnTo>
                  <a:pt x="2082860" y="0"/>
                </a:lnTo>
                <a:lnTo>
                  <a:pt x="2082860" y="2277482"/>
                </a:lnTo>
                <a:lnTo>
                  <a:pt x="0" y="22774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146230">
            <a:off x="16126123" y="4569586"/>
            <a:ext cx="1632217" cy="2205698"/>
          </a:xfrm>
          <a:custGeom>
            <a:avLst/>
            <a:gdLst/>
            <a:ahLst/>
            <a:cxnLst/>
            <a:rect r="r" b="b" t="t" l="l"/>
            <a:pathLst>
              <a:path h="2205698" w="1632217">
                <a:moveTo>
                  <a:pt x="0" y="0"/>
                </a:moveTo>
                <a:lnTo>
                  <a:pt x="1632217" y="0"/>
                </a:lnTo>
                <a:lnTo>
                  <a:pt x="1632217" y="2205698"/>
                </a:lnTo>
                <a:lnTo>
                  <a:pt x="0" y="22056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true" rot="-4924616">
            <a:off x="16296215" y="388809"/>
            <a:ext cx="1686656" cy="1904848"/>
          </a:xfrm>
          <a:custGeom>
            <a:avLst/>
            <a:gdLst/>
            <a:ahLst/>
            <a:cxnLst/>
            <a:rect r="r" b="b" t="t" l="l"/>
            <a:pathLst>
              <a:path h="1904848" w="1686656">
                <a:moveTo>
                  <a:pt x="0" y="1904848"/>
                </a:moveTo>
                <a:lnTo>
                  <a:pt x="1686656" y="1904848"/>
                </a:lnTo>
                <a:lnTo>
                  <a:pt x="1686656" y="0"/>
                </a:lnTo>
                <a:lnTo>
                  <a:pt x="0" y="0"/>
                </a:lnTo>
                <a:lnTo>
                  <a:pt x="0" y="1904848"/>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D304E"/>
        </a:solidFill>
      </p:bgPr>
    </p:bg>
    <p:spTree>
      <p:nvGrpSpPr>
        <p:cNvPr id="1" name=""/>
        <p:cNvGrpSpPr/>
        <p:nvPr/>
      </p:nvGrpSpPr>
      <p:grpSpPr>
        <a:xfrm>
          <a:off x="0" y="0"/>
          <a:ext cx="0" cy="0"/>
          <a:chOff x="0" y="0"/>
          <a:chExt cx="0" cy="0"/>
        </a:xfrm>
      </p:grpSpPr>
      <p:grpSp>
        <p:nvGrpSpPr>
          <p:cNvPr name="Group 2" id="2"/>
          <p:cNvGrpSpPr/>
          <p:nvPr/>
        </p:nvGrpSpPr>
        <p:grpSpPr>
          <a:xfrm rot="0">
            <a:off x="1148825" y="2503401"/>
            <a:ext cx="8776830" cy="5339698"/>
            <a:chOff x="0" y="0"/>
            <a:chExt cx="2311593" cy="1406340"/>
          </a:xfrm>
        </p:grpSpPr>
        <p:sp>
          <p:nvSpPr>
            <p:cNvPr name="Freeform 3" id="3"/>
            <p:cNvSpPr/>
            <p:nvPr/>
          </p:nvSpPr>
          <p:spPr>
            <a:xfrm flipH="false" flipV="false" rot="0">
              <a:off x="0" y="0"/>
              <a:ext cx="2311593" cy="1406340"/>
            </a:xfrm>
            <a:custGeom>
              <a:avLst/>
              <a:gdLst/>
              <a:ahLst/>
              <a:cxnLst/>
              <a:rect r="r" b="b" t="t" l="l"/>
              <a:pathLst>
                <a:path h="1406340" w="2311593">
                  <a:moveTo>
                    <a:pt x="32637" y="0"/>
                  </a:moveTo>
                  <a:lnTo>
                    <a:pt x="2278956" y="0"/>
                  </a:lnTo>
                  <a:cubicBezTo>
                    <a:pt x="2296981" y="0"/>
                    <a:pt x="2311593" y="14612"/>
                    <a:pt x="2311593" y="32637"/>
                  </a:cubicBezTo>
                  <a:lnTo>
                    <a:pt x="2311593" y="1373703"/>
                  </a:lnTo>
                  <a:cubicBezTo>
                    <a:pt x="2311593" y="1391728"/>
                    <a:pt x="2296981" y="1406340"/>
                    <a:pt x="2278956" y="1406340"/>
                  </a:cubicBezTo>
                  <a:lnTo>
                    <a:pt x="32637" y="1406340"/>
                  </a:lnTo>
                  <a:cubicBezTo>
                    <a:pt x="14612" y="1406340"/>
                    <a:pt x="0" y="1391728"/>
                    <a:pt x="0" y="1373703"/>
                  </a:cubicBezTo>
                  <a:lnTo>
                    <a:pt x="0" y="32637"/>
                  </a:lnTo>
                  <a:cubicBezTo>
                    <a:pt x="0" y="14612"/>
                    <a:pt x="14612" y="0"/>
                    <a:pt x="32637" y="0"/>
                  </a:cubicBezTo>
                  <a:close/>
                </a:path>
              </a:pathLst>
            </a:custGeom>
            <a:solidFill>
              <a:srgbClr val="F8F4E4"/>
            </a:solidFill>
          </p:spPr>
        </p:sp>
        <p:sp>
          <p:nvSpPr>
            <p:cNvPr name="TextBox 4" id="4"/>
            <p:cNvSpPr txBox="true"/>
            <p:nvPr/>
          </p:nvSpPr>
          <p:spPr>
            <a:xfrm>
              <a:off x="0" y="-47625"/>
              <a:ext cx="2311593" cy="1453965"/>
            </a:xfrm>
            <a:prstGeom prst="rect">
              <a:avLst/>
            </a:prstGeom>
          </p:spPr>
          <p:txBody>
            <a:bodyPr anchor="ctr" rtlCol="false" tIns="50800" lIns="50800" bIns="50800" rIns="50800"/>
            <a:lstStyle/>
            <a:p>
              <a:pPr algn="ctr">
                <a:lnSpc>
                  <a:spcPts val="2659"/>
                </a:lnSpc>
              </a:pPr>
              <a:r>
                <a:rPr lang="en-US" sz="1899">
                  <a:solidFill>
                    <a:srgbClr val="000000"/>
                  </a:solidFill>
                  <a:latin typeface="Arimo"/>
                  <a:ea typeface="Arimo"/>
                  <a:cs typeface="Arimo"/>
                  <a:sym typeface="Arimo"/>
                </a:rPr>
                <a:t>Kelebihan</a:t>
              </a:r>
            </a:p>
            <a:p>
              <a:pPr algn="ctr">
                <a:lnSpc>
                  <a:spcPts val="2659"/>
                </a:lnSpc>
              </a:pPr>
            </a:p>
            <a:p>
              <a:pPr algn="ctr">
                <a:lnSpc>
                  <a:spcPts val="2659"/>
                </a:lnSpc>
              </a:pPr>
              <a:r>
                <a:rPr lang="en-US" sz="1899">
                  <a:solidFill>
                    <a:srgbClr val="000000"/>
                  </a:solidFill>
                  <a:latin typeface="Arimo"/>
                  <a:ea typeface="Arimo"/>
                  <a:cs typeface="Arimo"/>
                  <a:sym typeface="Arimo"/>
                </a:rPr>
                <a:t>Kecepatan tinggi</a:t>
              </a:r>
            </a:p>
            <a:p>
              <a:pPr algn="ctr">
                <a:lnSpc>
                  <a:spcPts val="2659"/>
                </a:lnSpc>
              </a:pPr>
            </a:p>
            <a:p>
              <a:pPr algn="ctr">
                <a:lnSpc>
                  <a:spcPts val="2659"/>
                </a:lnSpc>
              </a:pPr>
              <a:r>
                <a:rPr lang="en-US" sz="1899">
                  <a:solidFill>
                    <a:srgbClr val="000000"/>
                  </a:solidFill>
                  <a:latin typeface="Arimo"/>
                  <a:ea typeface="Arimo"/>
                  <a:cs typeface="Arimo"/>
                  <a:sym typeface="Arimo"/>
                </a:rPr>
                <a:t>Cakupan jauh (puluhan km, tergantung ketinggian &amp; kondisi)</a:t>
              </a:r>
            </a:p>
            <a:p>
              <a:pPr algn="ctr">
                <a:lnSpc>
                  <a:spcPts val="2659"/>
                </a:lnSpc>
              </a:pPr>
            </a:p>
            <a:p>
              <a:pPr algn="ctr">
                <a:lnSpc>
                  <a:spcPts val="2659"/>
                </a:lnSpc>
              </a:pPr>
              <a:r>
                <a:rPr lang="en-US" sz="1899">
                  <a:solidFill>
                    <a:srgbClr val="000000"/>
                  </a:solidFill>
                  <a:latin typeface="Arimo"/>
                  <a:ea typeface="Arimo"/>
                  <a:cs typeface="Arimo"/>
                  <a:sym typeface="Arimo"/>
                </a:rPr>
                <a:t>Tidak butuh kabel (hemat biaya)</a:t>
              </a:r>
            </a:p>
            <a:p>
              <a:pPr algn="ctr">
                <a:lnSpc>
                  <a:spcPts val="2659"/>
                </a:lnSpc>
              </a:pPr>
            </a:p>
            <a:p>
              <a:pPr algn="ctr">
                <a:lnSpc>
                  <a:spcPts val="2659"/>
                </a:lnSpc>
              </a:pPr>
              <a:r>
                <a:rPr lang="en-US" sz="1899">
                  <a:solidFill>
                    <a:srgbClr val="000000"/>
                  </a:solidFill>
                  <a:latin typeface="Arimo"/>
                  <a:ea typeface="Arimo"/>
                  <a:cs typeface="Arimo"/>
                  <a:sym typeface="Arimo"/>
                </a:rPr>
                <a:t>Stabil untuk daerah sulit dijangkau fiber optic</a:t>
              </a:r>
            </a:p>
          </p:txBody>
        </p:sp>
      </p:grpSp>
      <p:sp>
        <p:nvSpPr>
          <p:cNvPr name="Freeform 5" id="5"/>
          <p:cNvSpPr/>
          <p:nvPr/>
        </p:nvSpPr>
        <p:spPr>
          <a:xfrm flipH="false" flipV="false" rot="0">
            <a:off x="3741561" y="9364200"/>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652889" y="7589691"/>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44886" y="1915446"/>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7259300" y="3552456"/>
            <a:ext cx="857250" cy="986376"/>
          </a:xfrm>
          <a:custGeom>
            <a:avLst/>
            <a:gdLst/>
            <a:ahLst/>
            <a:cxnLst/>
            <a:rect r="r" b="b" t="t" l="l"/>
            <a:pathLst>
              <a:path h="986376" w="857250">
                <a:moveTo>
                  <a:pt x="0" y="0"/>
                </a:moveTo>
                <a:lnTo>
                  <a:pt x="857250" y="0"/>
                </a:lnTo>
                <a:lnTo>
                  <a:pt x="857250" y="986375"/>
                </a:lnTo>
                <a:lnTo>
                  <a:pt x="0" y="986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5552" y="6700070"/>
            <a:ext cx="2974910" cy="2823460"/>
          </a:xfrm>
          <a:custGeom>
            <a:avLst/>
            <a:gdLst/>
            <a:ahLst/>
            <a:cxnLst/>
            <a:rect r="r" b="b" t="t" l="l"/>
            <a:pathLst>
              <a:path h="2823460" w="2974910">
                <a:moveTo>
                  <a:pt x="0" y="0"/>
                </a:moveTo>
                <a:lnTo>
                  <a:pt x="2974909" y="0"/>
                </a:lnTo>
                <a:lnTo>
                  <a:pt x="2974909" y="2823460"/>
                </a:lnTo>
                <a:lnTo>
                  <a:pt x="0" y="28234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5123869" y="704453"/>
            <a:ext cx="2564056" cy="2386903"/>
          </a:xfrm>
          <a:custGeom>
            <a:avLst/>
            <a:gdLst/>
            <a:ahLst/>
            <a:cxnLst/>
            <a:rect r="r" b="b" t="t" l="l"/>
            <a:pathLst>
              <a:path h="2386903" w="2564056">
                <a:moveTo>
                  <a:pt x="0" y="0"/>
                </a:moveTo>
                <a:lnTo>
                  <a:pt x="2564056" y="0"/>
                </a:lnTo>
                <a:lnTo>
                  <a:pt x="2564056" y="2386903"/>
                </a:lnTo>
                <a:lnTo>
                  <a:pt x="0" y="238690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629189">
            <a:off x="16288858" y="2503401"/>
            <a:ext cx="1680876" cy="1898320"/>
          </a:xfrm>
          <a:custGeom>
            <a:avLst/>
            <a:gdLst/>
            <a:ahLst/>
            <a:cxnLst/>
            <a:rect r="r" b="b" t="t" l="l"/>
            <a:pathLst>
              <a:path h="1898320" w="1680876">
                <a:moveTo>
                  <a:pt x="0" y="0"/>
                </a:moveTo>
                <a:lnTo>
                  <a:pt x="1680876" y="0"/>
                </a:lnTo>
                <a:lnTo>
                  <a:pt x="1680876" y="1898320"/>
                </a:lnTo>
                <a:lnTo>
                  <a:pt x="0" y="18983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true" flipV="false" rot="-2232088">
            <a:off x="500165" y="5196678"/>
            <a:ext cx="1609738" cy="1817979"/>
          </a:xfrm>
          <a:custGeom>
            <a:avLst/>
            <a:gdLst/>
            <a:ahLst/>
            <a:cxnLst/>
            <a:rect r="r" b="b" t="t" l="l"/>
            <a:pathLst>
              <a:path h="1817979" w="1609738">
                <a:moveTo>
                  <a:pt x="1609738" y="0"/>
                </a:moveTo>
                <a:lnTo>
                  <a:pt x="0" y="0"/>
                </a:lnTo>
                <a:lnTo>
                  <a:pt x="0" y="1817979"/>
                </a:lnTo>
                <a:lnTo>
                  <a:pt x="1609738" y="1817979"/>
                </a:lnTo>
                <a:lnTo>
                  <a:pt x="160973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776487">
            <a:off x="16194508" y="4587919"/>
            <a:ext cx="1557781" cy="2105109"/>
          </a:xfrm>
          <a:custGeom>
            <a:avLst/>
            <a:gdLst/>
            <a:ahLst/>
            <a:cxnLst/>
            <a:rect r="r" b="b" t="t" l="l"/>
            <a:pathLst>
              <a:path h="2105109" w="1557781">
                <a:moveTo>
                  <a:pt x="0" y="0"/>
                </a:moveTo>
                <a:lnTo>
                  <a:pt x="1557781" y="0"/>
                </a:lnTo>
                <a:lnTo>
                  <a:pt x="1557781" y="2105110"/>
                </a:lnTo>
                <a:lnTo>
                  <a:pt x="0" y="21051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434513">
            <a:off x="240822" y="3445575"/>
            <a:ext cx="1557781" cy="2105109"/>
          </a:xfrm>
          <a:custGeom>
            <a:avLst/>
            <a:gdLst/>
            <a:ahLst/>
            <a:cxnLst/>
            <a:rect r="r" b="b" t="t" l="l"/>
            <a:pathLst>
              <a:path h="2105109" w="1557781">
                <a:moveTo>
                  <a:pt x="0" y="0"/>
                </a:moveTo>
                <a:lnTo>
                  <a:pt x="1557781" y="0"/>
                </a:lnTo>
                <a:lnTo>
                  <a:pt x="1557781" y="2105110"/>
                </a:lnTo>
                <a:lnTo>
                  <a:pt x="0" y="21051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5" id="15"/>
          <p:cNvGrpSpPr/>
          <p:nvPr/>
        </p:nvGrpSpPr>
        <p:grpSpPr>
          <a:xfrm rot="321655">
            <a:off x="10163325" y="1915446"/>
            <a:ext cx="4721024" cy="3881428"/>
            <a:chOff x="0" y="0"/>
            <a:chExt cx="988617" cy="812800"/>
          </a:xfrm>
        </p:grpSpPr>
        <p:sp>
          <p:nvSpPr>
            <p:cNvPr name="Freeform 16" id="16"/>
            <p:cNvSpPr/>
            <p:nvPr/>
          </p:nvSpPr>
          <p:spPr>
            <a:xfrm flipH="false" flipV="false" rot="0">
              <a:off x="0" y="0"/>
              <a:ext cx="988617" cy="812800"/>
            </a:xfrm>
            <a:custGeom>
              <a:avLst/>
              <a:gdLst/>
              <a:ahLst/>
              <a:cxnLst/>
              <a:rect r="r" b="b" t="t" l="l"/>
              <a:pathLst>
                <a:path h="812800" w="988617">
                  <a:moveTo>
                    <a:pt x="0" y="0"/>
                  </a:moveTo>
                  <a:lnTo>
                    <a:pt x="988617" y="0"/>
                  </a:lnTo>
                  <a:lnTo>
                    <a:pt x="988617" y="812800"/>
                  </a:lnTo>
                  <a:lnTo>
                    <a:pt x="0" y="812800"/>
                  </a:lnTo>
                  <a:close/>
                </a:path>
              </a:pathLst>
            </a:custGeom>
            <a:blipFill>
              <a:blip r:embed="rId14"/>
              <a:stretch>
                <a:fillRect l="0" t="-67007" r="0" b="-15438"/>
              </a:stretch>
            </a:blipFill>
          </p:spPr>
        </p:sp>
      </p:grpSp>
      <p:grpSp>
        <p:nvGrpSpPr>
          <p:cNvPr name="Group 17" id="17"/>
          <p:cNvGrpSpPr/>
          <p:nvPr/>
        </p:nvGrpSpPr>
        <p:grpSpPr>
          <a:xfrm rot="-243512">
            <a:off x="10734825" y="4759356"/>
            <a:ext cx="4721024" cy="3881428"/>
            <a:chOff x="0" y="0"/>
            <a:chExt cx="988617" cy="812800"/>
          </a:xfrm>
        </p:grpSpPr>
        <p:sp>
          <p:nvSpPr>
            <p:cNvPr name="Freeform 18" id="18"/>
            <p:cNvSpPr/>
            <p:nvPr/>
          </p:nvSpPr>
          <p:spPr>
            <a:xfrm flipH="false" flipV="false" rot="0">
              <a:off x="0" y="0"/>
              <a:ext cx="988617" cy="812800"/>
            </a:xfrm>
            <a:custGeom>
              <a:avLst/>
              <a:gdLst/>
              <a:ahLst/>
              <a:cxnLst/>
              <a:rect r="r" b="b" t="t" l="l"/>
              <a:pathLst>
                <a:path h="812800" w="988617">
                  <a:moveTo>
                    <a:pt x="0" y="0"/>
                  </a:moveTo>
                  <a:lnTo>
                    <a:pt x="988617" y="0"/>
                  </a:lnTo>
                  <a:lnTo>
                    <a:pt x="988617" y="812800"/>
                  </a:lnTo>
                  <a:lnTo>
                    <a:pt x="0" y="812800"/>
                  </a:lnTo>
                  <a:close/>
                </a:path>
              </a:pathLst>
            </a:custGeom>
            <a:blipFill>
              <a:blip r:embed="rId15"/>
              <a:stretch>
                <a:fillRect l="-11661" t="0" r="-11661"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3CD46"/>
        </a:solidFill>
      </p:bgPr>
    </p:bg>
    <p:spTree>
      <p:nvGrpSpPr>
        <p:cNvPr id="1" name=""/>
        <p:cNvGrpSpPr/>
        <p:nvPr/>
      </p:nvGrpSpPr>
      <p:grpSpPr>
        <a:xfrm>
          <a:off x="0" y="0"/>
          <a:ext cx="0" cy="0"/>
          <a:chOff x="0" y="0"/>
          <a:chExt cx="0" cy="0"/>
        </a:xfrm>
      </p:grpSpPr>
      <p:sp>
        <p:nvSpPr>
          <p:cNvPr name="Freeform 2" id="2"/>
          <p:cNvSpPr/>
          <p:nvPr/>
        </p:nvSpPr>
        <p:spPr>
          <a:xfrm flipH="false" flipV="false" rot="0">
            <a:off x="3741561" y="9364200"/>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223889" y="8160326"/>
            <a:ext cx="801739" cy="922503"/>
          </a:xfrm>
          <a:custGeom>
            <a:avLst/>
            <a:gdLst/>
            <a:ahLst/>
            <a:cxnLst/>
            <a:rect r="r" b="b" t="t" l="l"/>
            <a:pathLst>
              <a:path h="922503" w="801739">
                <a:moveTo>
                  <a:pt x="0" y="0"/>
                </a:moveTo>
                <a:lnTo>
                  <a:pt x="801739" y="0"/>
                </a:lnTo>
                <a:lnTo>
                  <a:pt x="801739" y="922503"/>
                </a:lnTo>
                <a:lnTo>
                  <a:pt x="0" y="9225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44886" y="1915446"/>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058724" y="2104980"/>
            <a:ext cx="857250" cy="986376"/>
          </a:xfrm>
          <a:custGeom>
            <a:avLst/>
            <a:gdLst/>
            <a:ahLst/>
            <a:cxnLst/>
            <a:rect r="r" b="b" t="t" l="l"/>
            <a:pathLst>
              <a:path h="986376" w="857250">
                <a:moveTo>
                  <a:pt x="0" y="0"/>
                </a:moveTo>
                <a:lnTo>
                  <a:pt x="857250" y="0"/>
                </a:lnTo>
                <a:lnTo>
                  <a:pt x="857250" y="986376"/>
                </a:lnTo>
                <a:lnTo>
                  <a:pt x="0" y="9863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53879">
            <a:off x="551994" y="6868790"/>
            <a:ext cx="1845723" cy="2583073"/>
          </a:xfrm>
          <a:custGeom>
            <a:avLst/>
            <a:gdLst/>
            <a:ahLst/>
            <a:cxnLst/>
            <a:rect r="r" b="b" t="t" l="l"/>
            <a:pathLst>
              <a:path h="2583073" w="1845723">
                <a:moveTo>
                  <a:pt x="0" y="0"/>
                </a:moveTo>
                <a:lnTo>
                  <a:pt x="1845722" y="0"/>
                </a:lnTo>
                <a:lnTo>
                  <a:pt x="1845722" y="2583072"/>
                </a:lnTo>
                <a:lnTo>
                  <a:pt x="0" y="25830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526787" y="3999167"/>
            <a:ext cx="1926641" cy="2288666"/>
          </a:xfrm>
          <a:custGeom>
            <a:avLst/>
            <a:gdLst/>
            <a:ahLst/>
            <a:cxnLst/>
            <a:rect r="r" b="b" t="t" l="l"/>
            <a:pathLst>
              <a:path h="2288666" w="1926641">
                <a:moveTo>
                  <a:pt x="0" y="0"/>
                </a:moveTo>
                <a:lnTo>
                  <a:pt x="1926641" y="0"/>
                </a:lnTo>
                <a:lnTo>
                  <a:pt x="1926641" y="2288666"/>
                </a:lnTo>
                <a:lnTo>
                  <a:pt x="0" y="22886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5800546" y="7319834"/>
            <a:ext cx="2115429" cy="2632321"/>
          </a:xfrm>
          <a:custGeom>
            <a:avLst/>
            <a:gdLst/>
            <a:ahLst/>
            <a:cxnLst/>
            <a:rect r="r" b="b" t="t" l="l"/>
            <a:pathLst>
              <a:path h="2632321" w="2115429">
                <a:moveTo>
                  <a:pt x="0" y="0"/>
                </a:moveTo>
                <a:lnTo>
                  <a:pt x="2115428" y="0"/>
                </a:lnTo>
                <a:lnTo>
                  <a:pt x="2115428" y="2632321"/>
                </a:lnTo>
                <a:lnTo>
                  <a:pt x="0" y="26323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2452035">
            <a:off x="15627890" y="4148744"/>
            <a:ext cx="2460740" cy="2602706"/>
          </a:xfrm>
          <a:custGeom>
            <a:avLst/>
            <a:gdLst/>
            <a:ahLst/>
            <a:cxnLst/>
            <a:rect r="r" b="b" t="t" l="l"/>
            <a:pathLst>
              <a:path h="2602706" w="2460740">
                <a:moveTo>
                  <a:pt x="0" y="0"/>
                </a:moveTo>
                <a:lnTo>
                  <a:pt x="2460740" y="0"/>
                </a:lnTo>
                <a:lnTo>
                  <a:pt x="2460740" y="2602706"/>
                </a:lnTo>
                <a:lnTo>
                  <a:pt x="0" y="260270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3395297" y="403245"/>
            <a:ext cx="857250" cy="986376"/>
          </a:xfrm>
          <a:custGeom>
            <a:avLst/>
            <a:gdLst/>
            <a:ahLst/>
            <a:cxnLst/>
            <a:rect r="r" b="b" t="t" l="l"/>
            <a:pathLst>
              <a:path h="986376" w="857250">
                <a:moveTo>
                  <a:pt x="0" y="0"/>
                </a:moveTo>
                <a:lnTo>
                  <a:pt x="857250" y="0"/>
                </a:lnTo>
                <a:lnTo>
                  <a:pt x="857250" y="986376"/>
                </a:lnTo>
                <a:lnTo>
                  <a:pt x="0" y="9863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2966546" y="1431007"/>
            <a:ext cx="12833999" cy="4374133"/>
          </a:xfrm>
          <a:prstGeom prst="rect">
            <a:avLst/>
          </a:prstGeom>
        </p:spPr>
        <p:txBody>
          <a:bodyPr anchor="t" rtlCol="false" tIns="0" lIns="0" bIns="0" rIns="0">
            <a:spAutoFit/>
          </a:bodyPr>
          <a:lstStyle/>
          <a:p>
            <a:pPr algn="ctr">
              <a:lnSpc>
                <a:spcPts val="4991"/>
              </a:lnSpc>
            </a:pPr>
            <a:r>
              <a:rPr lang="en-US" sz="3565">
                <a:solidFill>
                  <a:srgbClr val="000000"/>
                </a:solidFill>
                <a:latin typeface="Arimo"/>
                <a:ea typeface="Arimo"/>
                <a:cs typeface="Arimo"/>
                <a:sym typeface="Arimo"/>
              </a:rPr>
              <a:t>Kekurangan</a:t>
            </a:r>
          </a:p>
          <a:p>
            <a:pPr algn="ctr">
              <a:lnSpc>
                <a:spcPts val="4991"/>
              </a:lnSpc>
            </a:pPr>
          </a:p>
          <a:p>
            <a:pPr algn="ctr">
              <a:lnSpc>
                <a:spcPts val="4991"/>
              </a:lnSpc>
            </a:pPr>
            <a:r>
              <a:rPr lang="en-US" sz="3565">
                <a:solidFill>
                  <a:srgbClr val="000000"/>
                </a:solidFill>
                <a:latin typeface="Arimo"/>
                <a:ea typeface="Arimo"/>
                <a:cs typeface="Arimo"/>
                <a:sym typeface="Arimo"/>
              </a:rPr>
              <a:t>Harus Line of Sight (tidak boleh terhalang gedung, bukit, pohon)</a:t>
            </a:r>
          </a:p>
          <a:p>
            <a:pPr algn="ctr">
              <a:lnSpc>
                <a:spcPts val="4991"/>
              </a:lnSpc>
            </a:pPr>
          </a:p>
          <a:p>
            <a:pPr algn="ctr">
              <a:lnSpc>
                <a:spcPts val="4991"/>
              </a:lnSpc>
            </a:pPr>
            <a:r>
              <a:rPr lang="en-US" sz="3565">
                <a:solidFill>
                  <a:srgbClr val="000000"/>
                </a:solidFill>
                <a:latin typeface="Arimo"/>
                <a:ea typeface="Arimo"/>
                <a:cs typeface="Arimo"/>
                <a:sym typeface="Arimo"/>
              </a:rPr>
              <a:t>Terpengaruh cuaca (hujan, kabut)</a:t>
            </a:r>
          </a:p>
          <a:p>
            <a:pPr algn="ctr">
              <a:lnSpc>
                <a:spcPts val="4991"/>
              </a:lnSpc>
            </a:pPr>
          </a:p>
          <a:p>
            <a:pPr algn="ctr">
              <a:lnSpc>
                <a:spcPts val="4991"/>
              </a:lnSpc>
              <a:spcBef>
                <a:spcPct val="0"/>
              </a:spcBef>
            </a:pPr>
            <a:r>
              <a:rPr lang="en-US" sz="3565">
                <a:solidFill>
                  <a:srgbClr val="000000"/>
                </a:solidFill>
                <a:latin typeface="Arimo"/>
                <a:ea typeface="Arimo"/>
                <a:cs typeface="Arimo"/>
                <a:sym typeface="Arimo"/>
              </a:rPr>
              <a:t>Butuh instalasi antena yang presisi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D304E"/>
        </a:solidFill>
      </p:bgPr>
    </p:bg>
    <p:spTree>
      <p:nvGrpSpPr>
        <p:cNvPr id="1" name=""/>
        <p:cNvGrpSpPr/>
        <p:nvPr/>
      </p:nvGrpSpPr>
      <p:grpSpPr>
        <a:xfrm>
          <a:off x="0" y="0"/>
          <a:ext cx="0" cy="0"/>
          <a:chOff x="0" y="0"/>
          <a:chExt cx="0" cy="0"/>
        </a:xfrm>
      </p:grpSpPr>
      <p:grpSp>
        <p:nvGrpSpPr>
          <p:cNvPr name="Group 2" id="2"/>
          <p:cNvGrpSpPr/>
          <p:nvPr/>
        </p:nvGrpSpPr>
        <p:grpSpPr>
          <a:xfrm rot="0">
            <a:off x="1148825" y="896433"/>
            <a:ext cx="15990349" cy="8494135"/>
            <a:chOff x="0" y="0"/>
            <a:chExt cx="4211450" cy="2237138"/>
          </a:xfrm>
        </p:grpSpPr>
        <p:sp>
          <p:nvSpPr>
            <p:cNvPr name="Freeform 3" id="3"/>
            <p:cNvSpPr/>
            <p:nvPr/>
          </p:nvSpPr>
          <p:spPr>
            <a:xfrm flipH="false" flipV="false" rot="0">
              <a:off x="0" y="0"/>
              <a:ext cx="4211450" cy="2237138"/>
            </a:xfrm>
            <a:custGeom>
              <a:avLst/>
              <a:gdLst/>
              <a:ahLst/>
              <a:cxnLst/>
              <a:rect r="r" b="b" t="t" l="l"/>
              <a:pathLst>
                <a:path h="2237138" w="4211450">
                  <a:moveTo>
                    <a:pt x="17914" y="0"/>
                  </a:moveTo>
                  <a:lnTo>
                    <a:pt x="4193536" y="0"/>
                  </a:lnTo>
                  <a:cubicBezTo>
                    <a:pt x="4203429" y="0"/>
                    <a:pt x="4211450" y="8020"/>
                    <a:pt x="4211450" y="17914"/>
                  </a:cubicBezTo>
                  <a:lnTo>
                    <a:pt x="4211450" y="2219224"/>
                  </a:lnTo>
                  <a:cubicBezTo>
                    <a:pt x="4211450" y="2223975"/>
                    <a:pt x="4209562" y="2228532"/>
                    <a:pt x="4206203" y="2231891"/>
                  </a:cubicBezTo>
                  <a:cubicBezTo>
                    <a:pt x="4202843" y="2235251"/>
                    <a:pt x="4198287" y="2237138"/>
                    <a:pt x="4193536" y="2237138"/>
                  </a:cubicBezTo>
                  <a:lnTo>
                    <a:pt x="17914" y="2237138"/>
                  </a:lnTo>
                  <a:cubicBezTo>
                    <a:pt x="8020" y="2237138"/>
                    <a:pt x="0" y="2229118"/>
                    <a:pt x="0" y="2219224"/>
                  </a:cubicBezTo>
                  <a:lnTo>
                    <a:pt x="0" y="17914"/>
                  </a:lnTo>
                  <a:cubicBezTo>
                    <a:pt x="0" y="8020"/>
                    <a:pt x="8020" y="0"/>
                    <a:pt x="17914" y="0"/>
                  </a:cubicBezTo>
                  <a:close/>
                </a:path>
              </a:pathLst>
            </a:custGeom>
            <a:solidFill>
              <a:srgbClr val="F8F4E4"/>
            </a:solidFill>
          </p:spPr>
        </p:sp>
        <p:sp>
          <p:nvSpPr>
            <p:cNvPr name="TextBox 4" id="4"/>
            <p:cNvSpPr txBox="true"/>
            <p:nvPr/>
          </p:nvSpPr>
          <p:spPr>
            <a:xfrm>
              <a:off x="0" y="-47625"/>
              <a:ext cx="4211450" cy="2284763"/>
            </a:xfrm>
            <a:prstGeom prst="rect">
              <a:avLst/>
            </a:prstGeom>
          </p:spPr>
          <p:txBody>
            <a:bodyPr anchor="ctr" rtlCol="false" tIns="50800" lIns="50800" bIns="50800" rIns="50800"/>
            <a:lstStyle/>
            <a:p>
              <a:pPr algn="ctr">
                <a:lnSpc>
                  <a:spcPts val="2659"/>
                </a:lnSpc>
              </a:pPr>
              <a:r>
                <a:rPr lang="en-US" sz="1899">
                  <a:solidFill>
                    <a:srgbClr val="000000"/>
                  </a:solidFill>
                  <a:latin typeface="Arimo"/>
                  <a:ea typeface="Arimo"/>
                  <a:cs typeface="Arimo"/>
                  <a:sym typeface="Arimo"/>
                </a:rPr>
                <a:t>Cara Kerja</a:t>
              </a:r>
            </a:p>
            <a:p>
              <a:pPr algn="ctr">
                <a:lnSpc>
                  <a:spcPts val="2659"/>
                </a:lnSpc>
              </a:pPr>
            </a:p>
            <a:p>
              <a:pPr algn="ctr">
                <a:lnSpc>
                  <a:spcPts val="2659"/>
                </a:lnSpc>
              </a:pPr>
              <a:r>
                <a:rPr lang="en-US" sz="1899">
                  <a:solidFill>
                    <a:srgbClr val="000000"/>
                  </a:solidFill>
                  <a:latin typeface="Arimo"/>
                  <a:ea typeface="Arimo"/>
                  <a:cs typeface="Arimo"/>
                  <a:sym typeface="Arimo"/>
                </a:rPr>
                <a:t>1. Sinyal dari perangkat jaringan (misal router) dikirim ke pemancar microwave (antenna dish).</a:t>
              </a:r>
            </a:p>
            <a:p>
              <a:pPr algn="ctr">
                <a:lnSpc>
                  <a:spcPts val="2659"/>
                </a:lnSpc>
              </a:pPr>
            </a:p>
            <a:p>
              <a:pPr algn="ctr">
                <a:lnSpc>
                  <a:spcPts val="2659"/>
                </a:lnSpc>
              </a:pPr>
            </a:p>
            <a:p>
              <a:pPr algn="ctr">
                <a:lnSpc>
                  <a:spcPts val="2659"/>
                </a:lnSpc>
              </a:pPr>
              <a:r>
                <a:rPr lang="en-US" sz="1899">
                  <a:solidFill>
                    <a:srgbClr val="000000"/>
                  </a:solidFill>
                  <a:latin typeface="Arimo"/>
                  <a:ea typeface="Arimo"/>
                  <a:cs typeface="Arimo"/>
                  <a:sym typeface="Arimo"/>
                </a:rPr>
                <a:t>2. Sinyal dipancarkan secara terarah menuju antena penerima.</a:t>
              </a:r>
            </a:p>
            <a:p>
              <a:pPr algn="ctr">
                <a:lnSpc>
                  <a:spcPts val="2659"/>
                </a:lnSpc>
              </a:pPr>
            </a:p>
            <a:p>
              <a:pPr algn="ctr">
                <a:lnSpc>
                  <a:spcPts val="2659"/>
                </a:lnSpc>
              </a:pPr>
            </a:p>
            <a:p>
              <a:pPr algn="ctr">
                <a:lnSpc>
                  <a:spcPts val="2659"/>
                </a:lnSpc>
              </a:pPr>
              <a:r>
                <a:rPr lang="en-US" sz="1899">
                  <a:solidFill>
                    <a:srgbClr val="000000"/>
                  </a:solidFill>
                  <a:latin typeface="Arimo"/>
                  <a:ea typeface="Arimo"/>
                  <a:cs typeface="Arimo"/>
                  <a:sym typeface="Arimo"/>
                </a:rPr>
                <a:t>3. Antena penerima menerima sinyal dan meneruskannya ke perangkat jaringan tujuan.</a:t>
              </a:r>
            </a:p>
            <a:p>
              <a:pPr algn="ctr">
                <a:lnSpc>
                  <a:spcPts val="2659"/>
                </a:lnSpc>
              </a:pPr>
            </a:p>
          </p:txBody>
        </p:sp>
      </p:grpSp>
      <p:sp>
        <p:nvSpPr>
          <p:cNvPr name="Freeform 5" id="5"/>
          <p:cNvSpPr/>
          <p:nvPr/>
        </p:nvSpPr>
        <p:spPr>
          <a:xfrm flipH="false" flipV="false" rot="0">
            <a:off x="126853" y="739537"/>
            <a:ext cx="1021972" cy="1175910"/>
          </a:xfrm>
          <a:custGeom>
            <a:avLst/>
            <a:gdLst/>
            <a:ahLst/>
            <a:cxnLst/>
            <a:rect r="r" b="b" t="t" l="l"/>
            <a:pathLst>
              <a:path h="1175910" w="1021972">
                <a:moveTo>
                  <a:pt x="0" y="0"/>
                </a:moveTo>
                <a:lnTo>
                  <a:pt x="1021972" y="0"/>
                </a:lnTo>
                <a:lnTo>
                  <a:pt x="1021972" y="1175909"/>
                </a:lnTo>
                <a:lnTo>
                  <a:pt x="0" y="11759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403689" y="7541586"/>
            <a:ext cx="915222" cy="1053079"/>
          </a:xfrm>
          <a:custGeom>
            <a:avLst/>
            <a:gdLst/>
            <a:ahLst/>
            <a:cxnLst/>
            <a:rect r="r" b="b" t="t" l="l"/>
            <a:pathLst>
              <a:path h="1053079" w="915222">
                <a:moveTo>
                  <a:pt x="0" y="0"/>
                </a:moveTo>
                <a:lnTo>
                  <a:pt x="915222" y="0"/>
                </a:lnTo>
                <a:lnTo>
                  <a:pt x="915222" y="1053079"/>
                </a:lnTo>
                <a:lnTo>
                  <a:pt x="0" y="1053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428362" y="2229054"/>
            <a:ext cx="761574" cy="876288"/>
          </a:xfrm>
          <a:custGeom>
            <a:avLst/>
            <a:gdLst/>
            <a:ahLst/>
            <a:cxnLst/>
            <a:rect r="r" b="b" t="t" l="l"/>
            <a:pathLst>
              <a:path h="876288" w="761574">
                <a:moveTo>
                  <a:pt x="0" y="0"/>
                </a:moveTo>
                <a:lnTo>
                  <a:pt x="761574" y="0"/>
                </a:lnTo>
                <a:lnTo>
                  <a:pt x="761574" y="876288"/>
                </a:lnTo>
                <a:lnTo>
                  <a:pt x="0" y="876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26853" y="6189766"/>
            <a:ext cx="1989021" cy="4097234"/>
          </a:xfrm>
          <a:custGeom>
            <a:avLst/>
            <a:gdLst/>
            <a:ahLst/>
            <a:cxnLst/>
            <a:rect r="r" b="b" t="t" l="l"/>
            <a:pathLst>
              <a:path h="4097234" w="1989021">
                <a:moveTo>
                  <a:pt x="0" y="0"/>
                </a:moveTo>
                <a:lnTo>
                  <a:pt x="1989021" y="0"/>
                </a:lnTo>
                <a:lnTo>
                  <a:pt x="1989021" y="4097234"/>
                </a:lnTo>
                <a:lnTo>
                  <a:pt x="0" y="40972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6033931" y="2951416"/>
            <a:ext cx="2445085" cy="2267261"/>
          </a:xfrm>
          <a:custGeom>
            <a:avLst/>
            <a:gdLst/>
            <a:ahLst/>
            <a:cxnLst/>
            <a:rect r="r" b="b" t="t" l="l"/>
            <a:pathLst>
              <a:path h="2267261" w="2445085">
                <a:moveTo>
                  <a:pt x="0" y="0"/>
                </a:moveTo>
                <a:lnTo>
                  <a:pt x="2445085" y="0"/>
                </a:lnTo>
                <a:lnTo>
                  <a:pt x="2445085" y="2267260"/>
                </a:lnTo>
                <a:lnTo>
                  <a:pt x="0" y="22672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833824">
            <a:off x="16730648" y="1243107"/>
            <a:ext cx="1669203" cy="1789594"/>
          </a:xfrm>
          <a:custGeom>
            <a:avLst/>
            <a:gdLst/>
            <a:ahLst/>
            <a:cxnLst/>
            <a:rect r="r" b="b" t="t" l="l"/>
            <a:pathLst>
              <a:path h="1789594" w="1669203">
                <a:moveTo>
                  <a:pt x="0" y="0"/>
                </a:moveTo>
                <a:lnTo>
                  <a:pt x="1669203" y="0"/>
                </a:lnTo>
                <a:lnTo>
                  <a:pt x="1669203" y="1789593"/>
                </a:lnTo>
                <a:lnTo>
                  <a:pt x="0" y="17895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true" rot="-1833824">
            <a:off x="624595" y="4587583"/>
            <a:ext cx="1669203" cy="1789594"/>
          </a:xfrm>
          <a:custGeom>
            <a:avLst/>
            <a:gdLst/>
            <a:ahLst/>
            <a:cxnLst/>
            <a:rect r="r" b="b" t="t" l="l"/>
            <a:pathLst>
              <a:path h="1789594" w="1669203">
                <a:moveTo>
                  <a:pt x="1669203" y="1789594"/>
                </a:moveTo>
                <a:lnTo>
                  <a:pt x="0" y="1789594"/>
                </a:lnTo>
                <a:lnTo>
                  <a:pt x="0" y="0"/>
                </a:lnTo>
                <a:lnTo>
                  <a:pt x="1669203" y="0"/>
                </a:lnTo>
                <a:lnTo>
                  <a:pt x="1669203" y="178959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546439" y="246349"/>
            <a:ext cx="857250" cy="986376"/>
          </a:xfrm>
          <a:custGeom>
            <a:avLst/>
            <a:gdLst/>
            <a:ahLst/>
            <a:cxnLst/>
            <a:rect r="r" b="b" t="t" l="l"/>
            <a:pathLst>
              <a:path h="986376" w="857250">
                <a:moveTo>
                  <a:pt x="0" y="0"/>
                </a:moveTo>
                <a:lnTo>
                  <a:pt x="857250" y="0"/>
                </a:lnTo>
                <a:lnTo>
                  <a:pt x="857250" y="986375"/>
                </a:lnTo>
                <a:lnTo>
                  <a:pt x="0" y="986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6988391" y="9466767"/>
            <a:ext cx="857250" cy="986376"/>
          </a:xfrm>
          <a:custGeom>
            <a:avLst/>
            <a:gdLst/>
            <a:ahLst/>
            <a:cxnLst/>
            <a:rect r="r" b="b" t="t" l="l"/>
            <a:pathLst>
              <a:path h="986376" w="857250">
                <a:moveTo>
                  <a:pt x="0" y="0"/>
                </a:moveTo>
                <a:lnTo>
                  <a:pt x="857250" y="0"/>
                </a:lnTo>
                <a:lnTo>
                  <a:pt x="857250" y="986376"/>
                </a:lnTo>
                <a:lnTo>
                  <a:pt x="0" y="9863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1310489">
            <a:off x="16414303" y="5516362"/>
            <a:ext cx="1684342" cy="2321775"/>
          </a:xfrm>
          <a:custGeom>
            <a:avLst/>
            <a:gdLst/>
            <a:ahLst/>
            <a:cxnLst/>
            <a:rect r="r" b="b" t="t" l="l"/>
            <a:pathLst>
              <a:path h="2321775" w="1684342">
                <a:moveTo>
                  <a:pt x="0" y="0"/>
                </a:moveTo>
                <a:lnTo>
                  <a:pt x="1684342" y="0"/>
                </a:lnTo>
                <a:lnTo>
                  <a:pt x="1684342" y="2321775"/>
                </a:lnTo>
                <a:lnTo>
                  <a:pt x="0" y="232177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D304E"/>
        </a:solidFill>
      </p:bgPr>
    </p:bg>
    <p:spTree>
      <p:nvGrpSpPr>
        <p:cNvPr id="1" name=""/>
        <p:cNvGrpSpPr/>
        <p:nvPr/>
      </p:nvGrpSpPr>
      <p:grpSpPr>
        <a:xfrm>
          <a:off x="0" y="0"/>
          <a:ext cx="0" cy="0"/>
          <a:chOff x="0" y="0"/>
          <a:chExt cx="0" cy="0"/>
        </a:xfrm>
      </p:grpSpPr>
      <p:grpSp>
        <p:nvGrpSpPr>
          <p:cNvPr name="Group 2" id="2"/>
          <p:cNvGrpSpPr/>
          <p:nvPr/>
        </p:nvGrpSpPr>
        <p:grpSpPr>
          <a:xfrm rot="0">
            <a:off x="1148825" y="896433"/>
            <a:ext cx="15990349" cy="8494135"/>
            <a:chOff x="0" y="0"/>
            <a:chExt cx="4211450" cy="2237138"/>
          </a:xfrm>
        </p:grpSpPr>
        <p:sp>
          <p:nvSpPr>
            <p:cNvPr name="Freeform 3" id="3"/>
            <p:cNvSpPr/>
            <p:nvPr/>
          </p:nvSpPr>
          <p:spPr>
            <a:xfrm flipH="false" flipV="false" rot="0">
              <a:off x="0" y="0"/>
              <a:ext cx="4211450" cy="2237138"/>
            </a:xfrm>
            <a:custGeom>
              <a:avLst/>
              <a:gdLst/>
              <a:ahLst/>
              <a:cxnLst/>
              <a:rect r="r" b="b" t="t" l="l"/>
              <a:pathLst>
                <a:path h="2237138" w="4211450">
                  <a:moveTo>
                    <a:pt x="17914" y="0"/>
                  </a:moveTo>
                  <a:lnTo>
                    <a:pt x="4193536" y="0"/>
                  </a:lnTo>
                  <a:cubicBezTo>
                    <a:pt x="4203429" y="0"/>
                    <a:pt x="4211450" y="8020"/>
                    <a:pt x="4211450" y="17914"/>
                  </a:cubicBezTo>
                  <a:lnTo>
                    <a:pt x="4211450" y="2219224"/>
                  </a:lnTo>
                  <a:cubicBezTo>
                    <a:pt x="4211450" y="2223975"/>
                    <a:pt x="4209562" y="2228532"/>
                    <a:pt x="4206203" y="2231891"/>
                  </a:cubicBezTo>
                  <a:cubicBezTo>
                    <a:pt x="4202843" y="2235251"/>
                    <a:pt x="4198287" y="2237138"/>
                    <a:pt x="4193536" y="2237138"/>
                  </a:cubicBezTo>
                  <a:lnTo>
                    <a:pt x="17914" y="2237138"/>
                  </a:lnTo>
                  <a:cubicBezTo>
                    <a:pt x="8020" y="2237138"/>
                    <a:pt x="0" y="2229118"/>
                    <a:pt x="0" y="2219224"/>
                  </a:cubicBezTo>
                  <a:lnTo>
                    <a:pt x="0" y="17914"/>
                  </a:lnTo>
                  <a:cubicBezTo>
                    <a:pt x="0" y="8020"/>
                    <a:pt x="8020" y="0"/>
                    <a:pt x="17914" y="0"/>
                  </a:cubicBezTo>
                  <a:close/>
                </a:path>
              </a:pathLst>
            </a:custGeom>
            <a:solidFill>
              <a:srgbClr val="F8F4E4"/>
            </a:solidFill>
          </p:spPr>
        </p:sp>
        <p:sp>
          <p:nvSpPr>
            <p:cNvPr name="TextBox 4" id="4"/>
            <p:cNvSpPr txBox="true"/>
            <p:nvPr/>
          </p:nvSpPr>
          <p:spPr>
            <a:xfrm>
              <a:off x="0" y="-47625"/>
              <a:ext cx="4211450" cy="2284763"/>
            </a:xfrm>
            <a:prstGeom prst="rect">
              <a:avLst/>
            </a:prstGeom>
          </p:spPr>
          <p:txBody>
            <a:bodyPr anchor="ctr" rtlCol="false" tIns="50800" lIns="50800" bIns="50800" rIns="50800"/>
            <a:lstStyle/>
            <a:p>
              <a:pPr algn="ctr">
                <a:lnSpc>
                  <a:spcPts val="2659"/>
                </a:lnSpc>
              </a:pPr>
              <a:r>
                <a:rPr lang="en-US" sz="1899">
                  <a:solidFill>
                    <a:srgbClr val="000000"/>
                  </a:solidFill>
                  <a:latin typeface="Arimo"/>
                  <a:ea typeface="Arimo"/>
                  <a:cs typeface="Arimo"/>
                  <a:sym typeface="Arimo"/>
                </a:rPr>
                <a:t>1. Perangkat Utama Microwave Link</a:t>
              </a:r>
            </a:p>
            <a:p>
              <a:pPr algn="ctr">
                <a:lnSpc>
                  <a:spcPts val="2659"/>
                </a:lnSpc>
              </a:pPr>
            </a:p>
            <a:p>
              <a:pPr algn="ctr">
                <a:lnSpc>
                  <a:spcPts val="2659"/>
                </a:lnSpc>
              </a:pPr>
              <a:r>
                <a:rPr lang="en-US" sz="1899">
                  <a:solidFill>
                    <a:srgbClr val="000000"/>
                  </a:solidFill>
                  <a:latin typeface="Arimo"/>
                  <a:ea typeface="Arimo"/>
                  <a:cs typeface="Arimo"/>
                  <a:sym typeface="Arimo"/>
                </a:rPr>
                <a:t>a. Transmitter (Pemancar)</a:t>
              </a:r>
            </a:p>
            <a:p>
              <a:pPr algn="ctr">
                <a:lnSpc>
                  <a:spcPts val="2659"/>
                </a:lnSpc>
              </a:pPr>
            </a:p>
            <a:p>
              <a:pPr algn="ctr">
                <a:lnSpc>
                  <a:spcPts val="2659"/>
                </a:lnSpc>
              </a:pPr>
              <a:r>
                <a:rPr lang="en-US" sz="1899">
                  <a:solidFill>
                    <a:srgbClr val="000000"/>
                  </a:solidFill>
                  <a:latin typeface="Arimo"/>
                  <a:ea typeface="Arimo"/>
                  <a:cs typeface="Arimo"/>
                  <a:sym typeface="Arimo"/>
                </a:rPr>
                <a:t>Mengubah sinyal baseband (suara/data) menjadi sinyal frekuensi mikro (microwave).</a:t>
              </a:r>
            </a:p>
            <a:p>
              <a:pPr algn="ctr">
                <a:lnSpc>
                  <a:spcPts val="2659"/>
                </a:lnSpc>
              </a:pPr>
            </a:p>
            <a:p>
              <a:pPr algn="ctr">
                <a:lnSpc>
                  <a:spcPts val="2659"/>
                </a:lnSpc>
              </a:pPr>
              <a:r>
                <a:rPr lang="en-US" sz="1899">
                  <a:solidFill>
                    <a:srgbClr val="000000"/>
                  </a:solidFill>
                  <a:latin typeface="Arimo"/>
                  <a:ea typeface="Arimo"/>
                  <a:cs typeface="Arimo"/>
                  <a:sym typeface="Arimo"/>
                </a:rPr>
                <a:t>Memperkuat sinyal sebelum dikirim.</a:t>
              </a:r>
            </a:p>
            <a:p>
              <a:pPr algn="ctr">
                <a:lnSpc>
                  <a:spcPts val="2659"/>
                </a:lnSpc>
              </a:pPr>
            </a:p>
            <a:p>
              <a:pPr algn="ctr">
                <a:lnSpc>
                  <a:spcPts val="2659"/>
                </a:lnSpc>
              </a:pPr>
            </a:p>
            <a:p>
              <a:pPr algn="ctr">
                <a:lnSpc>
                  <a:spcPts val="2659"/>
                </a:lnSpc>
              </a:pPr>
              <a:r>
                <a:rPr lang="en-US" sz="1899">
                  <a:solidFill>
                    <a:srgbClr val="000000"/>
                  </a:solidFill>
                  <a:latin typeface="Arimo"/>
                  <a:ea typeface="Arimo"/>
                  <a:cs typeface="Arimo"/>
                  <a:sym typeface="Arimo"/>
                </a:rPr>
                <a:t>b. Waveguide / Feeder</a:t>
              </a:r>
            </a:p>
            <a:p>
              <a:pPr algn="ctr">
                <a:lnSpc>
                  <a:spcPts val="2659"/>
                </a:lnSpc>
              </a:pPr>
            </a:p>
            <a:p>
              <a:pPr algn="ctr">
                <a:lnSpc>
                  <a:spcPts val="2659"/>
                </a:lnSpc>
              </a:pPr>
              <a:r>
                <a:rPr lang="en-US" sz="1899">
                  <a:solidFill>
                    <a:srgbClr val="000000"/>
                  </a:solidFill>
                  <a:latin typeface="Arimo"/>
                  <a:ea typeface="Arimo"/>
                  <a:cs typeface="Arimo"/>
                  <a:sym typeface="Arimo"/>
                </a:rPr>
                <a:t>Kabel atau pipa penyalur sinyal dari radio menuju antena.</a:t>
              </a:r>
            </a:p>
            <a:p>
              <a:pPr algn="ctr">
                <a:lnSpc>
                  <a:spcPts val="2659"/>
                </a:lnSpc>
              </a:pPr>
            </a:p>
            <a:p>
              <a:pPr algn="ctr">
                <a:lnSpc>
                  <a:spcPts val="2659"/>
                </a:lnSpc>
              </a:pPr>
              <a:r>
                <a:rPr lang="en-US" sz="1899">
                  <a:solidFill>
                    <a:srgbClr val="000000"/>
                  </a:solidFill>
                  <a:latin typeface="Arimo"/>
                  <a:ea typeface="Arimo"/>
                  <a:cs typeface="Arimo"/>
                  <a:sym typeface="Arimo"/>
                </a:rPr>
                <a:t>Harus minim rugi-rugi (loss).</a:t>
              </a:r>
            </a:p>
            <a:p>
              <a:pPr algn="ctr">
                <a:lnSpc>
                  <a:spcPts val="2659"/>
                </a:lnSpc>
              </a:pPr>
            </a:p>
            <a:p>
              <a:pPr algn="ctr">
                <a:lnSpc>
                  <a:spcPts val="2659"/>
                </a:lnSpc>
              </a:pPr>
            </a:p>
            <a:p>
              <a:pPr algn="ctr">
                <a:lnSpc>
                  <a:spcPts val="2659"/>
                </a:lnSpc>
              </a:pPr>
              <a:r>
                <a:rPr lang="en-US" sz="1899">
                  <a:solidFill>
                    <a:srgbClr val="000000"/>
                  </a:solidFill>
                  <a:latin typeface="Arimo"/>
                  <a:ea typeface="Arimo"/>
                  <a:cs typeface="Arimo"/>
                  <a:sym typeface="Arimo"/>
                </a:rPr>
                <a:t>c. Antenna Microwave</a:t>
              </a:r>
            </a:p>
            <a:p>
              <a:pPr algn="ctr">
                <a:lnSpc>
                  <a:spcPts val="2659"/>
                </a:lnSpc>
              </a:pPr>
            </a:p>
            <a:p>
              <a:pPr algn="ctr">
                <a:lnSpc>
                  <a:spcPts val="2659"/>
                </a:lnSpc>
              </a:pPr>
              <a:r>
                <a:rPr lang="en-US" sz="1899">
                  <a:solidFill>
                    <a:srgbClr val="000000"/>
                  </a:solidFill>
                  <a:latin typeface="Arimo"/>
                  <a:ea typeface="Arimo"/>
                  <a:cs typeface="Arimo"/>
                  <a:sym typeface="Arimo"/>
                </a:rPr>
                <a:t>Umumnya antena parabola atau dish.</a:t>
              </a:r>
            </a:p>
            <a:p>
              <a:pPr algn="ctr">
                <a:lnSpc>
                  <a:spcPts val="2659"/>
                </a:lnSpc>
              </a:pPr>
            </a:p>
            <a:p>
              <a:pPr algn="ctr">
                <a:lnSpc>
                  <a:spcPts val="2659"/>
                </a:lnSpc>
              </a:pPr>
              <a:r>
                <a:rPr lang="en-US" sz="1899">
                  <a:solidFill>
                    <a:srgbClr val="000000"/>
                  </a:solidFill>
                  <a:latin typeface="Arimo"/>
                  <a:ea typeface="Arimo"/>
                  <a:cs typeface="Arimo"/>
                  <a:sym typeface="Arimo"/>
                </a:rPr>
                <a:t>Mentransmisikan sinyal secara terarah (point-to-point).</a:t>
              </a:r>
            </a:p>
            <a:p>
              <a:pPr algn="ctr">
                <a:lnSpc>
                  <a:spcPts val="2659"/>
                </a:lnSpc>
              </a:pPr>
            </a:p>
            <a:p>
              <a:pPr algn="ctr">
                <a:lnSpc>
                  <a:spcPts val="2659"/>
                </a:lnSpc>
              </a:pPr>
              <a:r>
                <a:rPr lang="en-US" sz="1899">
                  <a:solidFill>
                    <a:srgbClr val="000000"/>
                  </a:solidFill>
                  <a:latin typeface="Arimo"/>
                  <a:ea typeface="Arimo"/>
                  <a:cs typeface="Arimo"/>
                  <a:sym typeface="Arimo"/>
                </a:rPr>
                <a:t>Memiliki gain tinggi untuk jarak jauh.</a:t>
              </a:r>
            </a:p>
            <a:p>
              <a:pPr algn="ctr">
                <a:lnSpc>
                  <a:spcPts val="2659"/>
                </a:lnSpc>
              </a:pPr>
            </a:p>
            <a:p>
              <a:pPr algn="ctr">
                <a:lnSpc>
                  <a:spcPts val="2659"/>
                </a:lnSpc>
              </a:pPr>
            </a:p>
          </p:txBody>
        </p:sp>
      </p:grpSp>
      <p:sp>
        <p:nvSpPr>
          <p:cNvPr name="Freeform 5" id="5"/>
          <p:cNvSpPr/>
          <p:nvPr/>
        </p:nvSpPr>
        <p:spPr>
          <a:xfrm flipH="false" flipV="false" rot="0">
            <a:off x="3741561" y="9364200"/>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652889" y="7589691"/>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44886" y="1915446"/>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7259300" y="3552456"/>
            <a:ext cx="857250" cy="986376"/>
          </a:xfrm>
          <a:custGeom>
            <a:avLst/>
            <a:gdLst/>
            <a:ahLst/>
            <a:cxnLst/>
            <a:rect r="r" b="b" t="t" l="l"/>
            <a:pathLst>
              <a:path h="986376" w="857250">
                <a:moveTo>
                  <a:pt x="0" y="0"/>
                </a:moveTo>
                <a:lnTo>
                  <a:pt x="857250" y="0"/>
                </a:lnTo>
                <a:lnTo>
                  <a:pt x="857250" y="986375"/>
                </a:lnTo>
                <a:lnTo>
                  <a:pt x="0" y="986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5552" y="6700070"/>
            <a:ext cx="2974910" cy="2823460"/>
          </a:xfrm>
          <a:custGeom>
            <a:avLst/>
            <a:gdLst/>
            <a:ahLst/>
            <a:cxnLst/>
            <a:rect r="r" b="b" t="t" l="l"/>
            <a:pathLst>
              <a:path h="2823460" w="2974910">
                <a:moveTo>
                  <a:pt x="0" y="0"/>
                </a:moveTo>
                <a:lnTo>
                  <a:pt x="2974909" y="0"/>
                </a:lnTo>
                <a:lnTo>
                  <a:pt x="2974909" y="2823460"/>
                </a:lnTo>
                <a:lnTo>
                  <a:pt x="0" y="28234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5123869" y="704453"/>
            <a:ext cx="2564056" cy="2386903"/>
          </a:xfrm>
          <a:custGeom>
            <a:avLst/>
            <a:gdLst/>
            <a:ahLst/>
            <a:cxnLst/>
            <a:rect r="r" b="b" t="t" l="l"/>
            <a:pathLst>
              <a:path h="2386903" w="2564056">
                <a:moveTo>
                  <a:pt x="0" y="0"/>
                </a:moveTo>
                <a:lnTo>
                  <a:pt x="2564056" y="0"/>
                </a:lnTo>
                <a:lnTo>
                  <a:pt x="2564056" y="2386903"/>
                </a:lnTo>
                <a:lnTo>
                  <a:pt x="0" y="238690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629189">
            <a:off x="16288858" y="2503401"/>
            <a:ext cx="1680876" cy="1898320"/>
          </a:xfrm>
          <a:custGeom>
            <a:avLst/>
            <a:gdLst/>
            <a:ahLst/>
            <a:cxnLst/>
            <a:rect r="r" b="b" t="t" l="l"/>
            <a:pathLst>
              <a:path h="1898320" w="1680876">
                <a:moveTo>
                  <a:pt x="0" y="0"/>
                </a:moveTo>
                <a:lnTo>
                  <a:pt x="1680876" y="0"/>
                </a:lnTo>
                <a:lnTo>
                  <a:pt x="1680876" y="1898320"/>
                </a:lnTo>
                <a:lnTo>
                  <a:pt x="0" y="18983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true" flipV="false" rot="-2232088">
            <a:off x="500165" y="5196678"/>
            <a:ext cx="1609738" cy="1817979"/>
          </a:xfrm>
          <a:custGeom>
            <a:avLst/>
            <a:gdLst/>
            <a:ahLst/>
            <a:cxnLst/>
            <a:rect r="r" b="b" t="t" l="l"/>
            <a:pathLst>
              <a:path h="1817979" w="1609738">
                <a:moveTo>
                  <a:pt x="1609738" y="0"/>
                </a:moveTo>
                <a:lnTo>
                  <a:pt x="0" y="0"/>
                </a:lnTo>
                <a:lnTo>
                  <a:pt x="0" y="1817979"/>
                </a:lnTo>
                <a:lnTo>
                  <a:pt x="1609738" y="1817979"/>
                </a:lnTo>
                <a:lnTo>
                  <a:pt x="160973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776487">
            <a:off x="16194508" y="4587919"/>
            <a:ext cx="1557781" cy="2105109"/>
          </a:xfrm>
          <a:custGeom>
            <a:avLst/>
            <a:gdLst/>
            <a:ahLst/>
            <a:cxnLst/>
            <a:rect r="r" b="b" t="t" l="l"/>
            <a:pathLst>
              <a:path h="2105109" w="1557781">
                <a:moveTo>
                  <a:pt x="0" y="0"/>
                </a:moveTo>
                <a:lnTo>
                  <a:pt x="1557781" y="0"/>
                </a:lnTo>
                <a:lnTo>
                  <a:pt x="1557781" y="2105110"/>
                </a:lnTo>
                <a:lnTo>
                  <a:pt x="0" y="21051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434513">
            <a:off x="240822" y="3445575"/>
            <a:ext cx="1557781" cy="2105109"/>
          </a:xfrm>
          <a:custGeom>
            <a:avLst/>
            <a:gdLst/>
            <a:ahLst/>
            <a:cxnLst/>
            <a:rect r="r" b="b" t="t" l="l"/>
            <a:pathLst>
              <a:path h="2105109" w="1557781">
                <a:moveTo>
                  <a:pt x="0" y="0"/>
                </a:moveTo>
                <a:lnTo>
                  <a:pt x="1557781" y="0"/>
                </a:lnTo>
                <a:lnTo>
                  <a:pt x="1557781" y="2105110"/>
                </a:lnTo>
                <a:lnTo>
                  <a:pt x="0" y="21051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D304E"/>
        </a:solidFill>
      </p:bgPr>
    </p:bg>
    <p:spTree>
      <p:nvGrpSpPr>
        <p:cNvPr id="1" name=""/>
        <p:cNvGrpSpPr/>
        <p:nvPr/>
      </p:nvGrpSpPr>
      <p:grpSpPr>
        <a:xfrm>
          <a:off x="0" y="0"/>
          <a:ext cx="0" cy="0"/>
          <a:chOff x="0" y="0"/>
          <a:chExt cx="0" cy="0"/>
        </a:xfrm>
      </p:grpSpPr>
      <p:grpSp>
        <p:nvGrpSpPr>
          <p:cNvPr name="Group 2" id="2"/>
          <p:cNvGrpSpPr/>
          <p:nvPr/>
        </p:nvGrpSpPr>
        <p:grpSpPr>
          <a:xfrm rot="0">
            <a:off x="1148825" y="896433"/>
            <a:ext cx="15990349" cy="8494135"/>
            <a:chOff x="0" y="0"/>
            <a:chExt cx="4211450" cy="2237138"/>
          </a:xfrm>
        </p:grpSpPr>
        <p:sp>
          <p:nvSpPr>
            <p:cNvPr name="Freeform 3" id="3"/>
            <p:cNvSpPr/>
            <p:nvPr/>
          </p:nvSpPr>
          <p:spPr>
            <a:xfrm flipH="false" flipV="false" rot="0">
              <a:off x="0" y="0"/>
              <a:ext cx="4211450" cy="2237138"/>
            </a:xfrm>
            <a:custGeom>
              <a:avLst/>
              <a:gdLst/>
              <a:ahLst/>
              <a:cxnLst/>
              <a:rect r="r" b="b" t="t" l="l"/>
              <a:pathLst>
                <a:path h="2237138" w="4211450">
                  <a:moveTo>
                    <a:pt x="17914" y="0"/>
                  </a:moveTo>
                  <a:lnTo>
                    <a:pt x="4193536" y="0"/>
                  </a:lnTo>
                  <a:cubicBezTo>
                    <a:pt x="4203429" y="0"/>
                    <a:pt x="4211450" y="8020"/>
                    <a:pt x="4211450" y="17914"/>
                  </a:cubicBezTo>
                  <a:lnTo>
                    <a:pt x="4211450" y="2219224"/>
                  </a:lnTo>
                  <a:cubicBezTo>
                    <a:pt x="4211450" y="2223975"/>
                    <a:pt x="4209562" y="2228532"/>
                    <a:pt x="4206203" y="2231891"/>
                  </a:cubicBezTo>
                  <a:cubicBezTo>
                    <a:pt x="4202843" y="2235251"/>
                    <a:pt x="4198287" y="2237138"/>
                    <a:pt x="4193536" y="2237138"/>
                  </a:cubicBezTo>
                  <a:lnTo>
                    <a:pt x="17914" y="2237138"/>
                  </a:lnTo>
                  <a:cubicBezTo>
                    <a:pt x="8020" y="2237138"/>
                    <a:pt x="0" y="2229118"/>
                    <a:pt x="0" y="2219224"/>
                  </a:cubicBezTo>
                  <a:lnTo>
                    <a:pt x="0" y="17914"/>
                  </a:lnTo>
                  <a:cubicBezTo>
                    <a:pt x="0" y="8020"/>
                    <a:pt x="8020" y="0"/>
                    <a:pt x="17914" y="0"/>
                  </a:cubicBezTo>
                  <a:close/>
                </a:path>
              </a:pathLst>
            </a:custGeom>
            <a:solidFill>
              <a:srgbClr val="F8F4E4"/>
            </a:solidFill>
          </p:spPr>
        </p:sp>
        <p:sp>
          <p:nvSpPr>
            <p:cNvPr name="TextBox 4" id="4"/>
            <p:cNvSpPr txBox="true"/>
            <p:nvPr/>
          </p:nvSpPr>
          <p:spPr>
            <a:xfrm>
              <a:off x="0" y="-47625"/>
              <a:ext cx="4211450" cy="228476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269088">
            <a:off x="15075782" y="6550031"/>
            <a:ext cx="2414843" cy="3154783"/>
          </a:xfrm>
          <a:custGeom>
            <a:avLst/>
            <a:gdLst/>
            <a:ahLst/>
            <a:cxnLst/>
            <a:rect r="r" b="b" t="t" l="l"/>
            <a:pathLst>
              <a:path h="3154783" w="2414843">
                <a:moveTo>
                  <a:pt x="0" y="0"/>
                </a:moveTo>
                <a:lnTo>
                  <a:pt x="2414843" y="0"/>
                </a:lnTo>
                <a:lnTo>
                  <a:pt x="2414843" y="3154783"/>
                </a:lnTo>
                <a:lnTo>
                  <a:pt x="0" y="3154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41093" y="6460447"/>
            <a:ext cx="2687552" cy="3192556"/>
          </a:xfrm>
          <a:custGeom>
            <a:avLst/>
            <a:gdLst/>
            <a:ahLst/>
            <a:cxnLst/>
            <a:rect r="r" b="b" t="t" l="l"/>
            <a:pathLst>
              <a:path h="3192556" w="2687552">
                <a:moveTo>
                  <a:pt x="0" y="0"/>
                </a:moveTo>
                <a:lnTo>
                  <a:pt x="2687552" y="0"/>
                </a:lnTo>
                <a:lnTo>
                  <a:pt x="2687552" y="3192556"/>
                </a:lnTo>
                <a:lnTo>
                  <a:pt x="0" y="3192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76277">
            <a:off x="451247" y="4048666"/>
            <a:ext cx="2042362" cy="2189667"/>
          </a:xfrm>
          <a:custGeom>
            <a:avLst/>
            <a:gdLst/>
            <a:ahLst/>
            <a:cxnLst/>
            <a:rect r="r" b="b" t="t" l="l"/>
            <a:pathLst>
              <a:path h="2189667" w="2042362">
                <a:moveTo>
                  <a:pt x="0" y="0"/>
                </a:moveTo>
                <a:lnTo>
                  <a:pt x="2042362" y="0"/>
                </a:lnTo>
                <a:lnTo>
                  <a:pt x="2042362" y="2189668"/>
                </a:lnTo>
                <a:lnTo>
                  <a:pt x="0" y="21896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130542">
            <a:off x="15913341" y="4050715"/>
            <a:ext cx="1664244" cy="2732341"/>
          </a:xfrm>
          <a:custGeom>
            <a:avLst/>
            <a:gdLst/>
            <a:ahLst/>
            <a:cxnLst/>
            <a:rect r="r" b="b" t="t" l="l"/>
            <a:pathLst>
              <a:path h="2732341" w="1664244">
                <a:moveTo>
                  <a:pt x="0" y="0"/>
                </a:moveTo>
                <a:lnTo>
                  <a:pt x="1664244" y="0"/>
                </a:lnTo>
                <a:lnTo>
                  <a:pt x="1664244" y="2732341"/>
                </a:lnTo>
                <a:lnTo>
                  <a:pt x="0" y="27323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2904698" y="3807548"/>
            <a:ext cx="11870198" cy="1928510"/>
          </a:xfrm>
          <a:prstGeom prst="rect">
            <a:avLst/>
          </a:prstGeom>
        </p:spPr>
        <p:txBody>
          <a:bodyPr anchor="t" rtlCol="false" tIns="0" lIns="0" bIns="0" rIns="0">
            <a:spAutoFit/>
          </a:bodyPr>
          <a:lstStyle/>
          <a:p>
            <a:pPr algn="ctr">
              <a:lnSpc>
                <a:spcPts val="14096"/>
              </a:lnSpc>
            </a:pPr>
            <a:r>
              <a:rPr lang="en-US" sz="15839">
                <a:solidFill>
                  <a:srgbClr val="000000"/>
                </a:solidFill>
                <a:latin typeface="Caveat Brush"/>
                <a:ea typeface="Caveat Brush"/>
                <a:cs typeface="Caveat Brush"/>
                <a:sym typeface="Caveat Brush"/>
              </a:rPr>
              <a:t>TERIMA KASIH</a:t>
            </a:r>
          </a:p>
        </p:txBody>
      </p:sp>
      <p:sp>
        <p:nvSpPr>
          <p:cNvPr name="Freeform 10" id="10"/>
          <p:cNvSpPr/>
          <p:nvPr/>
        </p:nvSpPr>
        <p:spPr>
          <a:xfrm flipH="false" flipV="false" rot="0">
            <a:off x="15156039" y="468807"/>
            <a:ext cx="2687552" cy="3192556"/>
          </a:xfrm>
          <a:custGeom>
            <a:avLst/>
            <a:gdLst/>
            <a:ahLst/>
            <a:cxnLst/>
            <a:rect r="r" b="b" t="t" l="l"/>
            <a:pathLst>
              <a:path h="3192556" w="2687552">
                <a:moveTo>
                  <a:pt x="0" y="0"/>
                </a:moveTo>
                <a:lnTo>
                  <a:pt x="2687552" y="0"/>
                </a:lnTo>
                <a:lnTo>
                  <a:pt x="2687552" y="3192556"/>
                </a:lnTo>
                <a:lnTo>
                  <a:pt x="0" y="3192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269088">
            <a:off x="750102" y="553023"/>
            <a:ext cx="2270123" cy="2965718"/>
          </a:xfrm>
          <a:custGeom>
            <a:avLst/>
            <a:gdLst/>
            <a:ahLst/>
            <a:cxnLst/>
            <a:rect r="r" b="b" t="t" l="l"/>
            <a:pathLst>
              <a:path h="2965718" w="2270123">
                <a:moveTo>
                  <a:pt x="0" y="0"/>
                </a:moveTo>
                <a:lnTo>
                  <a:pt x="2270122" y="0"/>
                </a:lnTo>
                <a:lnTo>
                  <a:pt x="2270122" y="2965718"/>
                </a:lnTo>
                <a:lnTo>
                  <a:pt x="0" y="29657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208183" y="5736058"/>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5930845" y="5357226"/>
            <a:ext cx="5817905" cy="1103220"/>
          </a:xfrm>
          <a:prstGeom prst="rect">
            <a:avLst/>
          </a:prstGeom>
        </p:spPr>
        <p:txBody>
          <a:bodyPr anchor="t" rtlCol="false" tIns="0" lIns="0" bIns="0" rIns="0">
            <a:spAutoFit/>
          </a:bodyPr>
          <a:lstStyle/>
          <a:p>
            <a:pPr algn="ctr">
              <a:lnSpc>
                <a:spcPts val="9017"/>
              </a:lnSpc>
            </a:pPr>
            <a:r>
              <a:rPr lang="en-US" sz="6441">
                <a:solidFill>
                  <a:srgbClr val="000000"/>
                </a:solidFill>
                <a:latin typeface="Caveat Brush"/>
                <a:ea typeface="Caveat Brush"/>
                <a:cs typeface="Caveat Brush"/>
                <a:sym typeface="Caveat Brush"/>
              </a:rPr>
              <a:t>Kelompok Fauget</a:t>
            </a:r>
          </a:p>
        </p:txBody>
      </p:sp>
      <p:sp>
        <p:nvSpPr>
          <p:cNvPr name="Freeform 14" id="14"/>
          <p:cNvSpPr/>
          <p:nvPr/>
        </p:nvSpPr>
        <p:spPr>
          <a:xfrm flipH="false" flipV="false" rot="0">
            <a:off x="13211009" y="7177407"/>
            <a:ext cx="1021972" cy="1175910"/>
          </a:xfrm>
          <a:custGeom>
            <a:avLst/>
            <a:gdLst/>
            <a:ahLst/>
            <a:cxnLst/>
            <a:rect r="r" b="b" t="t" l="l"/>
            <a:pathLst>
              <a:path h="1175910" w="1021972">
                <a:moveTo>
                  <a:pt x="0" y="0"/>
                </a:moveTo>
                <a:lnTo>
                  <a:pt x="1021973" y="0"/>
                </a:lnTo>
                <a:lnTo>
                  <a:pt x="1021973" y="1175909"/>
                </a:lnTo>
                <a:lnTo>
                  <a:pt x="0" y="11759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4175022" y="1582534"/>
            <a:ext cx="1021972" cy="1175910"/>
          </a:xfrm>
          <a:custGeom>
            <a:avLst/>
            <a:gdLst/>
            <a:ahLst/>
            <a:cxnLst/>
            <a:rect r="r" b="b" t="t" l="l"/>
            <a:pathLst>
              <a:path h="1175910" w="1021972">
                <a:moveTo>
                  <a:pt x="0" y="0"/>
                </a:moveTo>
                <a:lnTo>
                  <a:pt x="1021972" y="0"/>
                </a:lnTo>
                <a:lnTo>
                  <a:pt x="1021972" y="1175909"/>
                </a:lnTo>
                <a:lnTo>
                  <a:pt x="0" y="11759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17367266" y="8761240"/>
            <a:ext cx="781199" cy="898869"/>
          </a:xfrm>
          <a:custGeom>
            <a:avLst/>
            <a:gdLst/>
            <a:ahLst/>
            <a:cxnLst/>
            <a:rect r="r" b="b" t="t" l="l"/>
            <a:pathLst>
              <a:path h="898869" w="781199">
                <a:moveTo>
                  <a:pt x="0" y="0"/>
                </a:moveTo>
                <a:lnTo>
                  <a:pt x="781199" y="0"/>
                </a:lnTo>
                <a:lnTo>
                  <a:pt x="781199" y="898870"/>
                </a:lnTo>
                <a:lnTo>
                  <a:pt x="0" y="8988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7817825" y="308478"/>
            <a:ext cx="1021972" cy="1175910"/>
          </a:xfrm>
          <a:custGeom>
            <a:avLst/>
            <a:gdLst/>
            <a:ahLst/>
            <a:cxnLst/>
            <a:rect r="r" b="b" t="t" l="l"/>
            <a:pathLst>
              <a:path h="1175910" w="1021972">
                <a:moveTo>
                  <a:pt x="0" y="0"/>
                </a:moveTo>
                <a:lnTo>
                  <a:pt x="1021973" y="0"/>
                </a:lnTo>
                <a:lnTo>
                  <a:pt x="1021973" y="1175910"/>
                </a:lnTo>
                <a:lnTo>
                  <a:pt x="0" y="11759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5739711" y="8761240"/>
            <a:ext cx="1021972" cy="1175910"/>
          </a:xfrm>
          <a:custGeom>
            <a:avLst/>
            <a:gdLst/>
            <a:ahLst/>
            <a:cxnLst/>
            <a:rect r="r" b="b" t="t" l="l"/>
            <a:pathLst>
              <a:path h="1175910" w="1021972">
                <a:moveTo>
                  <a:pt x="0" y="0"/>
                </a:moveTo>
                <a:lnTo>
                  <a:pt x="1021972" y="0"/>
                </a:lnTo>
                <a:lnTo>
                  <a:pt x="1021972" y="1175910"/>
                </a:lnTo>
                <a:lnTo>
                  <a:pt x="0" y="11759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DAG5Thq8Rm4</dc:identifier>
  <dcterms:modified xsi:type="dcterms:W3CDTF">2011-08-01T06:04:30Z</dcterms:modified>
  <cp:revision>1</cp:revision>
  <dc:title>Ungu Krem Sederhana Kreatif  Tugas Presentasi Kelompok</dc:title>
</cp:coreProperties>
</file>